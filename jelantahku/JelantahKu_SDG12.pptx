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60 detik: Indonesia butuh jutaan kiloliter biodiesel tiap tahun, hampir semuanya dari sawit baru. Di sisi lain, jutaan liter jelantah rumah tangga dibuang ke selokan. Tidak ada yang mau mengumpulkan jelantah rumah tangga karena volumenya kecil dan tersebar. JelantahKu mengumpulkannya lewat drop-off di tiap RT dan pick-up terjadwal, dan warga dibayar per liter. Jelantah itu kami olah jadi biosolar dan kami jual ke UMKM dan nelayan dengan harga lebih murah dari solar nonsubsidi. Limbah dapur jadi energi, dan itulah SDG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74320"/>
            <a:ext cx="164592" cy="822960"/>
          </a:xfrm>
          <a:prstGeom prst="rect">
            <a:avLst/>
          </a:prstGeom>
          <a:solidFill>
            <a:srgbClr val="14532D"/>
          </a:solidFill>
          <a:ln w="12700">
            <a:solidFill>
              <a:srgbClr val="14532D"/>
            </a:solidFill>
            <a:prstDash val="solid"/>
          </a:ln>
        </p:spPr>
      </p:sp>
      <p:sp>
        <p:nvSpPr>
          <p:cNvPr id="3" name="Text 1"/>
          <p:cNvSpPr txBox="1"/>
          <p:nvPr/>
        </p:nvSpPr>
        <p:spPr>
          <a:xfrm>
            <a:off x="365760" y="228600"/>
            <a:ext cx="7315200" cy="274320"/>
          </a:xfrm>
          <a:prstGeom prst="rect">
            <a:avLst/>
          </a:prstGeom>
          <a:noFill/>
          <a:ln/>
        </p:spPr>
        <p:txBody>
          <a:bodyPr wrap="square" lIns="0" tIns="0" rIns="0" bIns="0" rtlCol="0" anchor="ctr"/>
          <a:lstStyle/>
          <a:p>
            <a:pPr indent="0" marL="0">
              <a:buNone/>
            </a:pPr>
            <a:r>
              <a:rPr lang="en-US" sz="1300" b="1" i="1" dirty="0">
                <a:solidFill>
                  <a:srgbClr val="2E7D4F"/>
                </a:solidFill>
                <a:latin typeface="Arial" pitchFamily="34" charset="0"/>
                <a:ea typeface="Arial" pitchFamily="34" charset="-122"/>
                <a:cs typeface="Arial" pitchFamily="34" charset="-120"/>
              </a:rPr>
              <a:t>SDG CHALLENGE · BPC SERIES</a:t>
            </a:r>
            <a:endParaRPr lang="en-US" sz="1300" dirty="0"/>
          </a:p>
        </p:txBody>
      </p:sp>
      <p:sp>
        <p:nvSpPr>
          <p:cNvPr id="4" name="Text 2"/>
          <p:cNvSpPr txBox="1"/>
          <p:nvPr/>
        </p:nvSpPr>
        <p:spPr>
          <a:xfrm>
            <a:off x="365760" y="502920"/>
            <a:ext cx="8503920" cy="685800"/>
          </a:xfrm>
          <a:prstGeom prst="rect">
            <a:avLst/>
          </a:prstGeom>
          <a:noFill/>
          <a:ln/>
        </p:spPr>
        <p:txBody>
          <a:bodyPr wrap="square" lIns="0" tIns="0" rIns="0" bIns="0" rtlCol="0" anchor="t"/>
          <a:lstStyle/>
          <a:p>
            <a:pPr indent="0" marL="0">
              <a:buNone/>
            </a:pPr>
            <a:r>
              <a:rPr lang="en-US" sz="1900" b="1" dirty="0">
                <a:solidFill>
                  <a:srgbClr val="1F2937"/>
                </a:solidFill>
                <a:latin typeface="Arial" pitchFamily="34" charset="0"/>
                <a:ea typeface="Arial" pitchFamily="34" charset="-122"/>
                <a:cs typeface="Arial" pitchFamily="34" charset="-120"/>
              </a:rPr>
              <a:t>JelantahKu: mengubah minyak jelantah rumah tangga yang terbuang menjadi biosolar untuk energi yang lebih berkelanjutan</a:t>
            </a:r>
            <a:endParaRPr lang="en-US" sz="1900" dirty="0"/>
          </a:p>
        </p:txBody>
      </p:sp>
      <p:sp>
        <p:nvSpPr>
          <p:cNvPr id="5" name="Shape 3"/>
          <p:cNvSpPr/>
          <p:nvPr/>
        </p:nvSpPr>
        <p:spPr>
          <a:xfrm>
            <a:off x="9098280" y="228600"/>
            <a:ext cx="2743200" cy="868680"/>
          </a:xfrm>
          <a:prstGeom prst="roundRect">
            <a:avLst>
              <a:gd name="adj" fmla="val 12632"/>
            </a:avLst>
          </a:prstGeom>
          <a:solidFill>
            <a:srgbClr val="FFFFFF"/>
          </a:solidFill>
          <a:ln w="12700">
            <a:solidFill>
              <a:srgbClr val="E5E7EB"/>
            </a:solidFill>
            <a:prstDash val="solid"/>
          </a:ln>
          <a:effectLst>
            <a:outerShdw sx="100000" sy="100000" kx="0" ky="0" algn="bl" rotWithShape="0" blurRad="76200" dist="25400" dir="5400000">
              <a:srgbClr val="000000">
                <a:alpha val="15000"/>
              </a:srgbClr>
            </a:outerShdw>
          </a:effectLst>
        </p:spPr>
      </p:sp>
      <p:sp>
        <p:nvSpPr>
          <p:cNvPr id="6" name="Shape 4"/>
          <p:cNvSpPr/>
          <p:nvPr/>
        </p:nvSpPr>
        <p:spPr>
          <a:xfrm>
            <a:off x="9235440" y="338328"/>
            <a:ext cx="658368" cy="658368"/>
          </a:xfrm>
          <a:prstGeom prst="roundRect">
            <a:avLst>
              <a:gd name="adj" fmla="val 8333"/>
            </a:avLst>
          </a:prstGeom>
          <a:solidFill>
            <a:srgbClr val="BF8B2E"/>
          </a:solidFill>
          <a:ln w="12700">
            <a:solidFill>
              <a:srgbClr val="BF8B2E"/>
            </a:solidFill>
            <a:prstDash val="solid"/>
          </a:ln>
        </p:spPr>
      </p:sp>
      <p:sp>
        <p:nvSpPr>
          <p:cNvPr id="7" name="Text 5"/>
          <p:cNvSpPr txBox="1"/>
          <p:nvPr/>
        </p:nvSpPr>
        <p:spPr>
          <a:xfrm>
            <a:off x="9235440" y="338328"/>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a:t>
            </a:r>
            <a:endParaRPr lang="en-US" sz="1800" dirty="0"/>
          </a:p>
          <a:p>
            <a:pPr algn="ctr" indent="0" marL="0">
              <a:buNone/>
            </a:pPr>
            <a:r>
              <a:rPr lang="en-US" sz="900" b="1" dirty="0">
                <a:solidFill>
                  <a:srgbClr val="FFFFFF"/>
                </a:solidFill>
                <a:latin typeface="Arial" pitchFamily="34" charset="0"/>
                <a:ea typeface="Arial" pitchFamily="34" charset="-122"/>
                <a:cs typeface="Arial" pitchFamily="34" charset="-120"/>
              </a:rPr>
              <a:t>SDG</a:t>
            </a:r>
            <a:endParaRPr lang="en-US" sz="1800" dirty="0"/>
          </a:p>
        </p:txBody>
      </p:sp>
      <p:sp>
        <p:nvSpPr>
          <p:cNvPr id="8" name="Text 6"/>
          <p:cNvSpPr txBox="1"/>
          <p:nvPr/>
        </p:nvSpPr>
        <p:spPr>
          <a:xfrm>
            <a:off x="10012680" y="347472"/>
            <a:ext cx="1783080" cy="365760"/>
          </a:xfrm>
          <a:prstGeom prst="rect">
            <a:avLst/>
          </a:prstGeom>
          <a:noFill/>
          <a:ln/>
        </p:spPr>
        <p:txBody>
          <a:bodyPr wrap="square" lIns="0" tIns="0" rIns="0" bIns="0" rtlCol="0" anchor="ctr"/>
          <a:lstStyle/>
          <a:p>
            <a:pPr indent="0" marL="0">
              <a:buNone/>
            </a:pPr>
            <a:r>
              <a:rPr lang="en-US" sz="2000" b="1" dirty="0">
                <a:solidFill>
                  <a:srgbClr val="14532D"/>
                </a:solidFill>
                <a:latin typeface="Arial" pitchFamily="34" charset="0"/>
                <a:ea typeface="Arial" pitchFamily="34" charset="-122"/>
                <a:cs typeface="Arial" pitchFamily="34" charset="-120"/>
              </a:rPr>
              <a:t>Jelantah</a:t>
            </a:r>
            <a:pPr indent="0" marL="0">
              <a:buNone/>
            </a:pPr>
            <a:r>
              <a:rPr lang="en-US" sz="2000" b="1" dirty="0">
                <a:solidFill>
                  <a:srgbClr val="E8A317"/>
                </a:solidFill>
                <a:latin typeface="Arial" pitchFamily="34" charset="0"/>
                <a:ea typeface="Arial" pitchFamily="34" charset="-122"/>
                <a:cs typeface="Arial" pitchFamily="34" charset="-120"/>
              </a:rPr>
              <a:t>Ku</a:t>
            </a:r>
            <a:endParaRPr lang="en-US" sz="2000" dirty="0"/>
          </a:p>
        </p:txBody>
      </p:sp>
      <p:sp>
        <p:nvSpPr>
          <p:cNvPr id="9" name="Text 7"/>
          <p:cNvSpPr txBox="1"/>
          <p:nvPr/>
        </p:nvSpPr>
        <p:spPr>
          <a:xfrm>
            <a:off x="10012680" y="694944"/>
            <a:ext cx="1783080" cy="320040"/>
          </a:xfrm>
          <a:prstGeom prst="rect">
            <a:avLst/>
          </a:prstGeom>
          <a:noFill/>
          <a:ln/>
        </p:spPr>
        <p:txBody>
          <a:bodyPr wrap="square" lIns="0" tIns="0" rIns="0" bIns="0" rtlCol="0" anchor="ctr"/>
          <a:lstStyle/>
          <a:p>
            <a:pPr indent="0" marL="0">
              <a:buNone/>
            </a:pPr>
            <a:r>
              <a:rPr lang="en-US" sz="800" dirty="0">
                <a:solidFill>
                  <a:srgbClr val="5B6B63"/>
                </a:solidFill>
                <a:latin typeface="Arial" pitchFamily="34" charset="0"/>
                <a:ea typeface="Arial" pitchFamily="34" charset="-122"/>
                <a:cs typeface="Arial" pitchFamily="34" charset="-120"/>
              </a:rPr>
              <a:t>Responsible Consumption &amp; Production</a:t>
            </a:r>
            <a:endParaRPr lang="en-US" sz="800" dirty="0"/>
          </a:p>
        </p:txBody>
      </p:sp>
      <p:sp>
        <p:nvSpPr>
          <p:cNvPr id="10" name="Shape 8"/>
          <p:cNvSpPr/>
          <p:nvPr/>
        </p:nvSpPr>
        <p:spPr>
          <a:xfrm>
            <a:off x="365760" y="1280160"/>
            <a:ext cx="11457432" cy="0"/>
          </a:xfrm>
          <a:prstGeom prst="line">
            <a:avLst/>
          </a:prstGeom>
          <a:noFill/>
          <a:ln w="12700">
            <a:solidFill>
              <a:srgbClr val="14532D"/>
            </a:solidFill>
            <a:prstDash val="solid"/>
          </a:ln>
        </p:spPr>
      </p:sp>
      <p:sp>
        <p:nvSpPr>
          <p:cNvPr id="11" name="Shape 9"/>
          <p:cNvSpPr/>
          <p:nvPr/>
        </p:nvSpPr>
        <p:spPr>
          <a:xfrm>
            <a:off x="365760" y="1389888"/>
            <a:ext cx="329184" cy="329184"/>
          </a:xfrm>
          <a:prstGeom prst="ellipse">
            <a:avLst/>
          </a:prstGeom>
          <a:solidFill>
            <a:srgbClr val="E8A317"/>
          </a:solidFill>
          <a:ln w="12700">
            <a:solidFill>
              <a:srgbClr val="E8A317"/>
            </a:solidFill>
            <a:prstDash val="solid"/>
          </a:ln>
        </p:spPr>
      </p:sp>
      <p:sp>
        <p:nvSpPr>
          <p:cNvPr id="12" name="Text 10"/>
          <p:cNvSpPr txBox="1"/>
          <p:nvPr/>
        </p:nvSpPr>
        <p:spPr>
          <a:xfrm>
            <a:off x="365760" y="13898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1"/>
          <p:cNvSpPr txBox="1"/>
          <p:nvPr/>
        </p:nvSpPr>
        <p:spPr>
          <a:xfrm>
            <a:off x="777240" y="1389888"/>
            <a:ext cx="2240280" cy="329184"/>
          </a:xfrm>
          <a:prstGeom prst="rect">
            <a:avLst/>
          </a:prstGeom>
          <a:noFill/>
          <a:ln/>
        </p:spPr>
        <p:txBody>
          <a:bodyPr wrap="square" lIns="0" tIns="0" rIns="0" bIns="0" rtlCol="0" anchor="ctr"/>
          <a:lstStyle/>
          <a:p>
            <a:pPr indent="0" marL="0">
              <a:buNone/>
            </a:pPr>
            <a:r>
              <a:rPr lang="en-US" sz="1700" b="1" dirty="0">
                <a:solidFill>
                  <a:srgbClr val="14532D"/>
                </a:solidFill>
                <a:latin typeface="Arial" pitchFamily="34" charset="0"/>
                <a:ea typeface="Arial" pitchFamily="34" charset="-122"/>
                <a:cs typeface="Arial" pitchFamily="34" charset="-120"/>
              </a:rPr>
              <a:t>Problem</a:t>
            </a:r>
            <a:endParaRPr lang="en-US" sz="1700" dirty="0"/>
          </a:p>
        </p:txBody>
      </p:sp>
      <p:sp>
        <p:nvSpPr>
          <p:cNvPr id="14" name="Shape 12"/>
          <p:cNvSpPr/>
          <p:nvPr/>
        </p:nvSpPr>
        <p:spPr>
          <a:xfrm>
            <a:off x="3145536" y="1389888"/>
            <a:ext cx="329184" cy="329184"/>
          </a:xfrm>
          <a:prstGeom prst="ellipse">
            <a:avLst/>
          </a:prstGeom>
          <a:solidFill>
            <a:srgbClr val="E8A317"/>
          </a:solidFill>
          <a:ln w="12700">
            <a:solidFill>
              <a:srgbClr val="E8A317"/>
            </a:solidFill>
            <a:prstDash val="solid"/>
          </a:ln>
        </p:spPr>
      </p:sp>
      <p:sp>
        <p:nvSpPr>
          <p:cNvPr id="15" name="Text 13"/>
          <p:cNvSpPr txBox="1"/>
          <p:nvPr/>
        </p:nvSpPr>
        <p:spPr>
          <a:xfrm>
            <a:off x="3145536" y="13898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3557016" y="1389888"/>
            <a:ext cx="2651760" cy="329184"/>
          </a:xfrm>
          <a:prstGeom prst="rect">
            <a:avLst/>
          </a:prstGeom>
          <a:noFill/>
          <a:ln/>
        </p:spPr>
        <p:txBody>
          <a:bodyPr wrap="square" lIns="0" tIns="0" rIns="0" bIns="0" rtlCol="0" anchor="ctr"/>
          <a:lstStyle/>
          <a:p>
            <a:pPr indent="0" marL="0">
              <a:buNone/>
            </a:pPr>
            <a:r>
              <a:rPr lang="en-US" sz="1700" b="1" dirty="0">
                <a:solidFill>
                  <a:srgbClr val="14532D"/>
                </a:solidFill>
                <a:latin typeface="Arial" pitchFamily="34" charset="0"/>
                <a:ea typeface="Arial" pitchFamily="34" charset="-122"/>
                <a:cs typeface="Arial" pitchFamily="34" charset="-120"/>
              </a:rPr>
              <a:t>Root Cause (5 Whys)</a:t>
            </a:r>
            <a:endParaRPr lang="en-US" sz="1700" dirty="0"/>
          </a:p>
        </p:txBody>
      </p:sp>
      <p:sp>
        <p:nvSpPr>
          <p:cNvPr id="17" name="Shape 15"/>
          <p:cNvSpPr/>
          <p:nvPr/>
        </p:nvSpPr>
        <p:spPr>
          <a:xfrm>
            <a:off x="6336792" y="1389888"/>
            <a:ext cx="329184" cy="329184"/>
          </a:xfrm>
          <a:prstGeom prst="ellipse">
            <a:avLst/>
          </a:prstGeom>
          <a:solidFill>
            <a:srgbClr val="E8A317"/>
          </a:solidFill>
          <a:ln w="12700">
            <a:solidFill>
              <a:srgbClr val="E8A317"/>
            </a:solidFill>
            <a:prstDash val="solid"/>
          </a:ln>
        </p:spPr>
      </p:sp>
      <p:sp>
        <p:nvSpPr>
          <p:cNvPr id="18" name="Text 16"/>
          <p:cNvSpPr txBox="1"/>
          <p:nvPr/>
        </p:nvSpPr>
        <p:spPr>
          <a:xfrm>
            <a:off x="6336792" y="13898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6748272" y="1389888"/>
            <a:ext cx="2286000" cy="329184"/>
          </a:xfrm>
          <a:prstGeom prst="rect">
            <a:avLst/>
          </a:prstGeom>
          <a:noFill/>
          <a:ln/>
        </p:spPr>
        <p:txBody>
          <a:bodyPr wrap="square" lIns="0" tIns="0" rIns="0" bIns="0" rtlCol="0" anchor="ctr"/>
          <a:lstStyle/>
          <a:p>
            <a:pPr indent="0" marL="0">
              <a:buNone/>
            </a:pPr>
            <a:r>
              <a:rPr lang="en-US" sz="1700" b="1" dirty="0">
                <a:solidFill>
                  <a:srgbClr val="14532D"/>
                </a:solidFill>
                <a:latin typeface="Arial" pitchFamily="34" charset="0"/>
                <a:ea typeface="Arial" pitchFamily="34" charset="-122"/>
                <a:cs typeface="Arial" pitchFamily="34" charset="-120"/>
              </a:rPr>
              <a:t>Customer</a:t>
            </a:r>
            <a:endParaRPr lang="en-US" sz="1700" dirty="0"/>
          </a:p>
        </p:txBody>
      </p:sp>
      <p:sp>
        <p:nvSpPr>
          <p:cNvPr id="20" name="Shape 18"/>
          <p:cNvSpPr/>
          <p:nvPr/>
        </p:nvSpPr>
        <p:spPr>
          <a:xfrm>
            <a:off x="9162288" y="1389888"/>
            <a:ext cx="329184" cy="329184"/>
          </a:xfrm>
          <a:prstGeom prst="ellipse">
            <a:avLst/>
          </a:prstGeom>
          <a:solidFill>
            <a:srgbClr val="E8A317"/>
          </a:solidFill>
          <a:ln w="12700">
            <a:solidFill>
              <a:srgbClr val="E8A317"/>
            </a:solidFill>
            <a:prstDash val="solid"/>
          </a:ln>
        </p:spPr>
      </p:sp>
      <p:sp>
        <p:nvSpPr>
          <p:cNvPr id="21" name="Text 19"/>
          <p:cNvSpPr txBox="1"/>
          <p:nvPr/>
        </p:nvSpPr>
        <p:spPr>
          <a:xfrm>
            <a:off x="9162288" y="13898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9573768" y="1389888"/>
            <a:ext cx="2249424" cy="329184"/>
          </a:xfrm>
          <a:prstGeom prst="rect">
            <a:avLst/>
          </a:prstGeom>
          <a:noFill/>
          <a:ln/>
        </p:spPr>
        <p:txBody>
          <a:bodyPr wrap="square" lIns="0" tIns="0" rIns="0" bIns="0" rtlCol="0" anchor="ctr"/>
          <a:lstStyle/>
          <a:p>
            <a:pPr indent="0" marL="0">
              <a:buNone/>
            </a:pPr>
            <a:r>
              <a:rPr lang="en-US" sz="1700" b="1" dirty="0">
                <a:solidFill>
                  <a:srgbClr val="14532D"/>
                </a:solidFill>
                <a:latin typeface="Arial" pitchFamily="34" charset="0"/>
                <a:ea typeface="Arial" pitchFamily="34" charset="-122"/>
                <a:cs typeface="Arial" pitchFamily="34" charset="-120"/>
              </a:rPr>
              <a:t>Evidence</a:t>
            </a:r>
            <a:endParaRPr lang="en-US" sz="1700" dirty="0"/>
          </a:p>
        </p:txBody>
      </p:sp>
      <p:sp>
        <p:nvSpPr>
          <p:cNvPr id="23" name="Shape 21"/>
          <p:cNvSpPr/>
          <p:nvPr/>
        </p:nvSpPr>
        <p:spPr>
          <a:xfrm>
            <a:off x="365760" y="1828800"/>
            <a:ext cx="2651760" cy="1874520"/>
          </a:xfrm>
          <a:prstGeom prst="rect">
            <a:avLst/>
          </a:prstGeom>
          <a:solidFill>
            <a:srgbClr val="14532D"/>
          </a:solidFill>
          <a:ln w="12700">
            <a:solidFill>
              <a:srgbClr val="14532D"/>
            </a:solidFill>
            <a:prstDash val="solid"/>
          </a:ln>
        </p:spPr>
      </p:sp>
      <p:sp>
        <p:nvSpPr>
          <p:cNvPr id="24" name="Text 22"/>
          <p:cNvSpPr txBox="1"/>
          <p:nvPr/>
        </p:nvSpPr>
        <p:spPr>
          <a:xfrm>
            <a:off x="530352" y="1938528"/>
            <a:ext cx="2322576" cy="1655064"/>
          </a:xfrm>
          <a:prstGeom prst="rect">
            <a:avLst/>
          </a:prstGeom>
          <a:noFill/>
          <a:ln/>
        </p:spPr>
        <p:txBody>
          <a:bodyPr wrap="square" lIns="0" tIns="0" rIns="0" bIns="0" rtlCol="0" anchor="ctr"/>
          <a:lstStyle/>
          <a:p>
            <a:pPr indent="0" marL="0">
              <a:lnSpc>
                <a:spcPct val="105000"/>
              </a:lnSpc>
              <a:buNone/>
            </a:pPr>
            <a:r>
              <a:rPr lang="en-US" sz="1250" dirty="0">
                <a:solidFill>
                  <a:srgbClr val="FFFFFF"/>
                </a:solidFill>
                <a:latin typeface="Arial" pitchFamily="34" charset="0"/>
                <a:ea typeface="Arial" pitchFamily="34" charset="-122"/>
                <a:cs typeface="Arial" pitchFamily="34" charset="-120"/>
              </a:rPr>
              <a:t>Jelantah rumah tangga dibuang ke saluran air atau dipakai berulang, padahal bisa jadi biodiesel. Kebutuhan biodiesel nasional (B40) masih hampir seluruhnya dipenuhi dari CPO baru.</a:t>
            </a:r>
            <a:endParaRPr lang="en-US" sz="1250" dirty="0"/>
          </a:p>
        </p:txBody>
      </p:sp>
      <p:sp>
        <p:nvSpPr>
          <p:cNvPr id="25" name="Text 23"/>
          <p:cNvSpPr txBox="1"/>
          <p:nvPr/>
        </p:nvSpPr>
        <p:spPr>
          <a:xfrm>
            <a:off x="365760" y="3813048"/>
            <a:ext cx="2651760" cy="256032"/>
          </a:xfrm>
          <a:prstGeom prst="rect">
            <a:avLst/>
          </a:prstGeom>
          <a:noFill/>
          <a:ln/>
        </p:spPr>
        <p:txBody>
          <a:bodyPr wrap="square" lIns="0" tIns="0" rIns="0" bIns="0" rtlCol="0" anchor="ctr"/>
          <a:lstStyle/>
          <a:p>
            <a:pPr indent="0" marL="0">
              <a:buNone/>
            </a:pPr>
            <a:r>
              <a:rPr lang="en-US" sz="1100" b="1" dirty="0">
                <a:solidFill>
                  <a:srgbClr val="2E7D4F"/>
                </a:solidFill>
                <a:latin typeface="Arial" pitchFamily="34" charset="0"/>
                <a:ea typeface="Arial" pitchFamily="34" charset="-122"/>
                <a:cs typeface="Arial" pitchFamily="34" charset="-120"/>
              </a:rPr>
              <a:t>Dampaknya</a:t>
            </a:r>
            <a:endParaRPr lang="en-US" sz="1100" dirty="0"/>
          </a:p>
        </p:txBody>
      </p:sp>
      <p:sp>
        <p:nvSpPr>
          <p:cNvPr id="26" name="Shape 24"/>
          <p:cNvSpPr/>
          <p:nvPr/>
        </p:nvSpPr>
        <p:spPr>
          <a:xfrm>
            <a:off x="384048" y="4187952"/>
            <a:ext cx="100584" cy="100584"/>
          </a:xfrm>
          <a:prstGeom prst="ellipse">
            <a:avLst/>
          </a:prstGeom>
          <a:solidFill>
            <a:srgbClr val="E8A317"/>
          </a:solidFill>
          <a:ln w="12700">
            <a:solidFill>
              <a:srgbClr val="E8A317"/>
            </a:solidFill>
            <a:prstDash val="solid"/>
          </a:ln>
        </p:spPr>
      </p:sp>
      <p:sp>
        <p:nvSpPr>
          <p:cNvPr id="27" name="Text 25"/>
          <p:cNvSpPr txBox="1"/>
          <p:nvPr/>
        </p:nvSpPr>
        <p:spPr>
          <a:xfrm>
            <a:off x="566928" y="4114800"/>
            <a:ext cx="2450592" cy="246888"/>
          </a:xfrm>
          <a:prstGeom prst="rect">
            <a:avLst/>
          </a:prstGeom>
          <a:noFill/>
          <a:ln/>
        </p:spPr>
        <p:txBody>
          <a:bodyPr wrap="square" lIns="0" tIns="0" rIns="0" bIns="0" rtlCol="0" anchor="ctr"/>
          <a:lstStyle/>
          <a:p>
            <a:pPr indent="0" marL="0">
              <a:buNone/>
            </a:pPr>
            <a:r>
              <a:rPr lang="en-US" sz="1050" dirty="0">
                <a:solidFill>
                  <a:srgbClr val="1F2937"/>
                </a:solidFill>
                <a:latin typeface="Arial" pitchFamily="34" charset="0"/>
                <a:ea typeface="Arial" pitchFamily="34" charset="-122"/>
                <a:cs typeface="Arial" pitchFamily="34" charset="-120"/>
              </a:rPr>
              <a:t>Air &amp; tanah tercemar</a:t>
            </a:r>
            <a:endParaRPr lang="en-US" sz="1050" dirty="0"/>
          </a:p>
        </p:txBody>
      </p:sp>
      <p:sp>
        <p:nvSpPr>
          <p:cNvPr id="28" name="Shape 26"/>
          <p:cNvSpPr/>
          <p:nvPr/>
        </p:nvSpPr>
        <p:spPr>
          <a:xfrm>
            <a:off x="384048" y="4443984"/>
            <a:ext cx="100584" cy="100584"/>
          </a:xfrm>
          <a:prstGeom prst="ellipse">
            <a:avLst/>
          </a:prstGeom>
          <a:solidFill>
            <a:srgbClr val="E8A317"/>
          </a:solidFill>
          <a:ln w="12700">
            <a:solidFill>
              <a:srgbClr val="E8A317"/>
            </a:solidFill>
            <a:prstDash val="solid"/>
          </a:ln>
        </p:spPr>
      </p:sp>
      <p:sp>
        <p:nvSpPr>
          <p:cNvPr id="29" name="Text 27"/>
          <p:cNvSpPr txBox="1"/>
          <p:nvPr/>
        </p:nvSpPr>
        <p:spPr>
          <a:xfrm>
            <a:off x="566928" y="4370832"/>
            <a:ext cx="2450592" cy="246888"/>
          </a:xfrm>
          <a:prstGeom prst="rect">
            <a:avLst/>
          </a:prstGeom>
          <a:noFill/>
          <a:ln/>
        </p:spPr>
        <p:txBody>
          <a:bodyPr wrap="square" lIns="0" tIns="0" rIns="0" bIns="0" rtlCol="0" anchor="ctr"/>
          <a:lstStyle/>
          <a:p>
            <a:pPr indent="0" marL="0">
              <a:buNone/>
            </a:pPr>
            <a:r>
              <a:rPr lang="en-US" sz="1050" dirty="0">
                <a:solidFill>
                  <a:srgbClr val="1F2937"/>
                </a:solidFill>
                <a:latin typeface="Arial" pitchFamily="34" charset="0"/>
                <a:ea typeface="Arial" pitchFamily="34" charset="-122"/>
                <a:cs typeface="Arial" pitchFamily="34" charset="-120"/>
              </a:rPr>
              <a:t>Kesehatan keluarga terancam</a:t>
            </a:r>
            <a:endParaRPr lang="en-US" sz="1050" dirty="0"/>
          </a:p>
        </p:txBody>
      </p:sp>
      <p:sp>
        <p:nvSpPr>
          <p:cNvPr id="30" name="Shape 28"/>
          <p:cNvSpPr/>
          <p:nvPr/>
        </p:nvSpPr>
        <p:spPr>
          <a:xfrm>
            <a:off x="384048" y="4700016"/>
            <a:ext cx="100584" cy="100584"/>
          </a:xfrm>
          <a:prstGeom prst="ellipse">
            <a:avLst/>
          </a:prstGeom>
          <a:solidFill>
            <a:srgbClr val="E8A317"/>
          </a:solidFill>
          <a:ln w="12700">
            <a:solidFill>
              <a:srgbClr val="E8A317"/>
            </a:solidFill>
            <a:prstDash val="solid"/>
          </a:ln>
        </p:spPr>
      </p:sp>
      <p:sp>
        <p:nvSpPr>
          <p:cNvPr id="31" name="Text 29"/>
          <p:cNvSpPr txBox="1"/>
          <p:nvPr/>
        </p:nvSpPr>
        <p:spPr>
          <a:xfrm>
            <a:off x="566928" y="4626864"/>
            <a:ext cx="2450592" cy="246888"/>
          </a:xfrm>
          <a:prstGeom prst="rect">
            <a:avLst/>
          </a:prstGeom>
          <a:noFill/>
          <a:ln/>
        </p:spPr>
        <p:txBody>
          <a:bodyPr wrap="square" lIns="0" tIns="0" rIns="0" bIns="0" rtlCol="0" anchor="ctr"/>
          <a:lstStyle/>
          <a:p>
            <a:pPr indent="0" marL="0">
              <a:buNone/>
            </a:pPr>
            <a:r>
              <a:rPr lang="en-US" sz="1050" dirty="0">
                <a:solidFill>
                  <a:srgbClr val="1F2937"/>
                </a:solidFill>
                <a:latin typeface="Arial" pitchFamily="34" charset="0"/>
                <a:ea typeface="Arial" pitchFamily="34" charset="-122"/>
                <a:cs typeface="Arial" pitchFamily="34" charset="-120"/>
              </a:rPr>
              <a:t>Energi terus menyedot CPO baru</a:t>
            </a:r>
            <a:endParaRPr lang="en-US" sz="1050" dirty="0"/>
          </a:p>
        </p:txBody>
      </p:sp>
      <p:sp>
        <p:nvSpPr>
          <p:cNvPr id="32" name="Shape 30"/>
          <p:cNvSpPr/>
          <p:nvPr/>
        </p:nvSpPr>
        <p:spPr>
          <a:xfrm>
            <a:off x="3145536" y="1828800"/>
            <a:ext cx="3063240" cy="420624"/>
          </a:xfrm>
          <a:prstGeom prst="rect">
            <a:avLst/>
          </a:prstGeom>
          <a:solidFill>
            <a:srgbClr val="E7F3EA"/>
          </a:solidFill>
          <a:ln w="12700">
            <a:solidFill>
              <a:srgbClr val="E7F3EA"/>
            </a:solidFill>
            <a:prstDash val="solid"/>
          </a:ln>
        </p:spPr>
      </p:sp>
      <p:sp>
        <p:nvSpPr>
          <p:cNvPr id="33" name="Text 31"/>
          <p:cNvSpPr txBox="1"/>
          <p:nvPr/>
        </p:nvSpPr>
        <p:spPr>
          <a:xfrm>
            <a:off x="3218688" y="1828800"/>
            <a:ext cx="502920" cy="420624"/>
          </a:xfrm>
          <a:prstGeom prst="rect">
            <a:avLst/>
          </a:prstGeom>
          <a:noFill/>
          <a:ln/>
        </p:spPr>
        <p:txBody>
          <a:bodyPr wrap="square" lIns="0" tIns="0" rIns="0" bIns="0" rtlCol="0" anchor="ctr"/>
          <a:lstStyle/>
          <a:p>
            <a:pPr indent="0" marL="0">
              <a:buNone/>
            </a:pPr>
            <a:r>
              <a:rPr lang="en-US" sz="900" b="1" dirty="0">
                <a:solidFill>
                  <a:srgbClr val="2E7D4F"/>
                </a:solidFill>
                <a:latin typeface="Arial" pitchFamily="34" charset="0"/>
                <a:ea typeface="Arial" pitchFamily="34" charset="-122"/>
                <a:cs typeface="Arial" pitchFamily="34" charset="-120"/>
              </a:rPr>
              <a:t>Why 1</a:t>
            </a:r>
            <a:endParaRPr lang="en-US" sz="900" dirty="0"/>
          </a:p>
        </p:txBody>
      </p:sp>
      <p:sp>
        <p:nvSpPr>
          <p:cNvPr id="34" name="Text 32"/>
          <p:cNvSpPr txBox="1"/>
          <p:nvPr/>
        </p:nvSpPr>
        <p:spPr>
          <a:xfrm>
            <a:off x="3739896" y="1828800"/>
            <a:ext cx="2395728" cy="420624"/>
          </a:xfrm>
          <a:prstGeom prst="rect">
            <a:avLst/>
          </a:prstGeom>
          <a:noFill/>
          <a:ln/>
        </p:spPr>
        <p:txBody>
          <a:bodyPr wrap="square" lIns="0" tIns="0" rIns="0" bIns="0" rtlCol="0" anchor="ctr"/>
          <a:lstStyle/>
          <a:p>
            <a:pPr indent="0" marL="0">
              <a:buNone/>
            </a:pPr>
            <a:r>
              <a:rPr lang="en-US" sz="950" dirty="0">
                <a:solidFill>
                  <a:srgbClr val="1F2937"/>
                </a:solidFill>
                <a:latin typeface="Arial" pitchFamily="34" charset="0"/>
                <a:ea typeface="Arial" pitchFamily="34" charset="-122"/>
                <a:cs typeface="Arial" pitchFamily="34" charset="-120"/>
              </a:rPr>
              <a:t>Jelantah rumah tangga tidak masuk industri biodiesel karena tidak terkumpul.</a:t>
            </a:r>
            <a:endParaRPr lang="en-US" sz="950" dirty="0"/>
          </a:p>
        </p:txBody>
      </p:sp>
      <p:sp>
        <p:nvSpPr>
          <p:cNvPr id="35" name="Shape 33"/>
          <p:cNvSpPr/>
          <p:nvPr/>
        </p:nvSpPr>
        <p:spPr>
          <a:xfrm>
            <a:off x="3145536" y="2304288"/>
            <a:ext cx="3063240" cy="420624"/>
          </a:xfrm>
          <a:prstGeom prst="rect">
            <a:avLst/>
          </a:prstGeom>
          <a:solidFill>
            <a:srgbClr val="E7F3EA"/>
          </a:solidFill>
          <a:ln w="12700">
            <a:solidFill>
              <a:srgbClr val="E7F3EA"/>
            </a:solidFill>
            <a:prstDash val="solid"/>
          </a:ln>
        </p:spPr>
      </p:sp>
      <p:sp>
        <p:nvSpPr>
          <p:cNvPr id="36" name="Text 34"/>
          <p:cNvSpPr txBox="1"/>
          <p:nvPr/>
        </p:nvSpPr>
        <p:spPr>
          <a:xfrm>
            <a:off x="3218688" y="2304288"/>
            <a:ext cx="502920" cy="420624"/>
          </a:xfrm>
          <a:prstGeom prst="rect">
            <a:avLst/>
          </a:prstGeom>
          <a:noFill/>
          <a:ln/>
        </p:spPr>
        <p:txBody>
          <a:bodyPr wrap="square" lIns="0" tIns="0" rIns="0" bIns="0" rtlCol="0" anchor="ctr"/>
          <a:lstStyle/>
          <a:p>
            <a:pPr indent="0" marL="0">
              <a:buNone/>
            </a:pPr>
            <a:r>
              <a:rPr lang="en-US" sz="900" b="1" dirty="0">
                <a:solidFill>
                  <a:srgbClr val="2E7D4F"/>
                </a:solidFill>
                <a:latin typeface="Arial" pitchFamily="34" charset="0"/>
                <a:ea typeface="Arial" pitchFamily="34" charset="-122"/>
                <a:cs typeface="Arial" pitchFamily="34" charset="-120"/>
              </a:rPr>
              <a:t>Why 2</a:t>
            </a:r>
            <a:endParaRPr lang="en-US" sz="900" dirty="0"/>
          </a:p>
        </p:txBody>
      </p:sp>
      <p:sp>
        <p:nvSpPr>
          <p:cNvPr id="37" name="Text 35"/>
          <p:cNvSpPr txBox="1"/>
          <p:nvPr/>
        </p:nvSpPr>
        <p:spPr>
          <a:xfrm>
            <a:off x="3739896" y="2304288"/>
            <a:ext cx="2395728" cy="420624"/>
          </a:xfrm>
          <a:prstGeom prst="rect">
            <a:avLst/>
          </a:prstGeom>
          <a:noFill/>
          <a:ln/>
        </p:spPr>
        <p:txBody>
          <a:bodyPr wrap="square" lIns="0" tIns="0" rIns="0" bIns="0" rtlCol="0" anchor="ctr"/>
          <a:lstStyle/>
          <a:p>
            <a:pPr indent="0" marL="0">
              <a:buNone/>
            </a:pPr>
            <a:r>
              <a:rPr lang="en-US" sz="950" dirty="0">
                <a:solidFill>
                  <a:srgbClr val="1F2937"/>
                </a:solidFill>
                <a:latin typeface="Arial" pitchFamily="34" charset="0"/>
                <a:ea typeface="Arial" pitchFamily="34" charset="-122"/>
                <a:cs typeface="Arial" pitchFamily="34" charset="-120"/>
              </a:rPr>
              <a:t>Pengepul hanya mengambil dari restoran, hotel &amp; industri bervolume besar.</a:t>
            </a:r>
            <a:endParaRPr lang="en-US" sz="950" dirty="0"/>
          </a:p>
        </p:txBody>
      </p:sp>
      <p:sp>
        <p:nvSpPr>
          <p:cNvPr id="38" name="Shape 36"/>
          <p:cNvSpPr/>
          <p:nvPr/>
        </p:nvSpPr>
        <p:spPr>
          <a:xfrm>
            <a:off x="3145536" y="2779776"/>
            <a:ext cx="3063240" cy="420624"/>
          </a:xfrm>
          <a:prstGeom prst="rect">
            <a:avLst/>
          </a:prstGeom>
          <a:solidFill>
            <a:srgbClr val="E7F3EA"/>
          </a:solidFill>
          <a:ln w="12700">
            <a:solidFill>
              <a:srgbClr val="E7F3EA"/>
            </a:solidFill>
            <a:prstDash val="solid"/>
          </a:ln>
        </p:spPr>
      </p:sp>
      <p:sp>
        <p:nvSpPr>
          <p:cNvPr id="39" name="Text 37"/>
          <p:cNvSpPr txBox="1"/>
          <p:nvPr/>
        </p:nvSpPr>
        <p:spPr>
          <a:xfrm>
            <a:off x="3218688" y="2779776"/>
            <a:ext cx="502920" cy="420624"/>
          </a:xfrm>
          <a:prstGeom prst="rect">
            <a:avLst/>
          </a:prstGeom>
          <a:noFill/>
          <a:ln/>
        </p:spPr>
        <p:txBody>
          <a:bodyPr wrap="square" lIns="0" tIns="0" rIns="0" bIns="0" rtlCol="0" anchor="ctr"/>
          <a:lstStyle/>
          <a:p>
            <a:pPr indent="0" marL="0">
              <a:buNone/>
            </a:pPr>
            <a:r>
              <a:rPr lang="en-US" sz="900" b="1" dirty="0">
                <a:solidFill>
                  <a:srgbClr val="2E7D4F"/>
                </a:solidFill>
                <a:latin typeface="Arial" pitchFamily="34" charset="0"/>
                <a:ea typeface="Arial" pitchFamily="34" charset="-122"/>
                <a:cs typeface="Arial" pitchFamily="34" charset="-120"/>
              </a:rPr>
              <a:t>Why 3</a:t>
            </a:r>
            <a:endParaRPr lang="en-US" sz="900" dirty="0"/>
          </a:p>
        </p:txBody>
      </p:sp>
      <p:sp>
        <p:nvSpPr>
          <p:cNvPr id="40" name="Text 38"/>
          <p:cNvSpPr txBox="1"/>
          <p:nvPr/>
        </p:nvSpPr>
        <p:spPr>
          <a:xfrm>
            <a:off x="3739896" y="2779776"/>
            <a:ext cx="2395728" cy="420624"/>
          </a:xfrm>
          <a:prstGeom prst="rect">
            <a:avLst/>
          </a:prstGeom>
          <a:noFill/>
          <a:ln/>
        </p:spPr>
        <p:txBody>
          <a:bodyPr wrap="square" lIns="0" tIns="0" rIns="0" bIns="0" rtlCol="0" anchor="ctr"/>
          <a:lstStyle/>
          <a:p>
            <a:pPr indent="0" marL="0">
              <a:buNone/>
            </a:pPr>
            <a:r>
              <a:rPr lang="en-US" sz="950" dirty="0">
                <a:solidFill>
                  <a:srgbClr val="1F2937"/>
                </a:solidFill>
                <a:latin typeface="Arial" pitchFamily="34" charset="0"/>
                <a:ea typeface="Arial" pitchFamily="34" charset="-122"/>
                <a:cs typeface="Arial" pitchFamily="34" charset="-120"/>
              </a:rPr>
              <a:t>Volume per rumah kecil (±1–2 L/bulan) &amp; tersebar sehingga logistik mahal.</a:t>
            </a:r>
            <a:endParaRPr lang="en-US" sz="950" dirty="0"/>
          </a:p>
        </p:txBody>
      </p:sp>
      <p:sp>
        <p:nvSpPr>
          <p:cNvPr id="41" name="Shape 39"/>
          <p:cNvSpPr/>
          <p:nvPr/>
        </p:nvSpPr>
        <p:spPr>
          <a:xfrm>
            <a:off x="3145536" y="3255264"/>
            <a:ext cx="3063240" cy="420624"/>
          </a:xfrm>
          <a:prstGeom prst="rect">
            <a:avLst/>
          </a:prstGeom>
          <a:solidFill>
            <a:srgbClr val="E7F3EA"/>
          </a:solidFill>
          <a:ln w="12700">
            <a:solidFill>
              <a:srgbClr val="E7F3EA"/>
            </a:solidFill>
            <a:prstDash val="solid"/>
          </a:ln>
        </p:spPr>
      </p:sp>
      <p:sp>
        <p:nvSpPr>
          <p:cNvPr id="42" name="Text 40"/>
          <p:cNvSpPr txBox="1"/>
          <p:nvPr/>
        </p:nvSpPr>
        <p:spPr>
          <a:xfrm>
            <a:off x="3218688" y="3255264"/>
            <a:ext cx="502920" cy="420624"/>
          </a:xfrm>
          <a:prstGeom prst="rect">
            <a:avLst/>
          </a:prstGeom>
          <a:noFill/>
          <a:ln/>
        </p:spPr>
        <p:txBody>
          <a:bodyPr wrap="square" lIns="0" tIns="0" rIns="0" bIns="0" rtlCol="0" anchor="ctr"/>
          <a:lstStyle/>
          <a:p>
            <a:pPr indent="0" marL="0">
              <a:buNone/>
            </a:pPr>
            <a:r>
              <a:rPr lang="en-US" sz="900" b="1" dirty="0">
                <a:solidFill>
                  <a:srgbClr val="2E7D4F"/>
                </a:solidFill>
                <a:latin typeface="Arial" pitchFamily="34" charset="0"/>
                <a:ea typeface="Arial" pitchFamily="34" charset="-122"/>
                <a:cs typeface="Arial" pitchFamily="34" charset="-120"/>
              </a:rPr>
              <a:t>Why 4</a:t>
            </a:r>
            <a:endParaRPr lang="en-US" sz="900" dirty="0"/>
          </a:p>
        </p:txBody>
      </p:sp>
      <p:sp>
        <p:nvSpPr>
          <p:cNvPr id="43" name="Text 41"/>
          <p:cNvSpPr txBox="1"/>
          <p:nvPr/>
        </p:nvSpPr>
        <p:spPr>
          <a:xfrm>
            <a:off x="3739896" y="3255264"/>
            <a:ext cx="2395728" cy="420624"/>
          </a:xfrm>
          <a:prstGeom prst="rect">
            <a:avLst/>
          </a:prstGeom>
          <a:noFill/>
          <a:ln/>
        </p:spPr>
        <p:txBody>
          <a:bodyPr wrap="square" lIns="0" tIns="0" rIns="0" bIns="0" rtlCol="0" anchor="ctr"/>
          <a:lstStyle/>
          <a:p>
            <a:pPr indent="0" marL="0">
              <a:buNone/>
            </a:pPr>
            <a:r>
              <a:rPr lang="en-US" sz="950" dirty="0">
                <a:solidFill>
                  <a:srgbClr val="1F2937"/>
                </a:solidFill>
                <a:latin typeface="Arial" pitchFamily="34" charset="0"/>
                <a:ea typeface="Arial" pitchFamily="34" charset="-122"/>
                <a:cs typeface="Arial" pitchFamily="34" charset="-120"/>
              </a:rPr>
              <a:t>Belum ada sistem kluster RT/RW &amp; standar kualitas jelantah.</a:t>
            </a:r>
            <a:endParaRPr lang="en-US" sz="950" dirty="0"/>
          </a:p>
        </p:txBody>
      </p:sp>
      <p:sp>
        <p:nvSpPr>
          <p:cNvPr id="44" name="Shape 42"/>
          <p:cNvSpPr/>
          <p:nvPr/>
        </p:nvSpPr>
        <p:spPr>
          <a:xfrm>
            <a:off x="3145536" y="3730752"/>
            <a:ext cx="3063240" cy="420624"/>
          </a:xfrm>
          <a:prstGeom prst="rect">
            <a:avLst/>
          </a:prstGeom>
          <a:solidFill>
            <a:srgbClr val="E7F3EA"/>
          </a:solidFill>
          <a:ln w="12700">
            <a:solidFill>
              <a:srgbClr val="E7F3EA"/>
            </a:solidFill>
            <a:prstDash val="solid"/>
          </a:ln>
        </p:spPr>
      </p:sp>
      <p:sp>
        <p:nvSpPr>
          <p:cNvPr id="45" name="Text 43"/>
          <p:cNvSpPr txBox="1"/>
          <p:nvPr/>
        </p:nvSpPr>
        <p:spPr>
          <a:xfrm>
            <a:off x="3218688" y="3730752"/>
            <a:ext cx="502920" cy="420624"/>
          </a:xfrm>
          <a:prstGeom prst="rect">
            <a:avLst/>
          </a:prstGeom>
          <a:noFill/>
          <a:ln/>
        </p:spPr>
        <p:txBody>
          <a:bodyPr wrap="square" lIns="0" tIns="0" rIns="0" bIns="0" rtlCol="0" anchor="ctr"/>
          <a:lstStyle/>
          <a:p>
            <a:pPr indent="0" marL="0">
              <a:buNone/>
            </a:pPr>
            <a:r>
              <a:rPr lang="en-US" sz="900" b="1" dirty="0">
                <a:solidFill>
                  <a:srgbClr val="2E7D4F"/>
                </a:solidFill>
                <a:latin typeface="Arial" pitchFamily="34" charset="0"/>
                <a:ea typeface="Arial" pitchFamily="34" charset="-122"/>
                <a:cs typeface="Arial" pitchFamily="34" charset="-120"/>
              </a:rPr>
              <a:t>Why 5</a:t>
            </a:r>
            <a:endParaRPr lang="en-US" sz="900" dirty="0"/>
          </a:p>
        </p:txBody>
      </p:sp>
      <p:sp>
        <p:nvSpPr>
          <p:cNvPr id="46" name="Text 44"/>
          <p:cNvSpPr txBox="1"/>
          <p:nvPr/>
        </p:nvSpPr>
        <p:spPr>
          <a:xfrm>
            <a:off x="3739896" y="3730752"/>
            <a:ext cx="2395728" cy="420624"/>
          </a:xfrm>
          <a:prstGeom prst="rect">
            <a:avLst/>
          </a:prstGeom>
          <a:noFill/>
          <a:ln/>
        </p:spPr>
        <p:txBody>
          <a:bodyPr wrap="square" lIns="0" tIns="0" rIns="0" bIns="0" rtlCol="0" anchor="ctr"/>
          <a:lstStyle/>
          <a:p>
            <a:pPr indent="0" marL="0">
              <a:buNone/>
            </a:pPr>
            <a:r>
              <a:rPr lang="en-US" sz="950" dirty="0">
                <a:solidFill>
                  <a:srgbClr val="1F2937"/>
                </a:solidFill>
                <a:latin typeface="Arial" pitchFamily="34" charset="0"/>
                <a:ea typeface="Arial" pitchFamily="34" charset="-122"/>
                <a:cs typeface="Arial" pitchFamily="34" charset="-120"/>
              </a:rPr>
              <a:t>Tidak ada insentif &amp; edukasi; jelantah dianggap sampah, bukan energi.</a:t>
            </a:r>
            <a:endParaRPr lang="en-US" sz="950" dirty="0"/>
          </a:p>
        </p:txBody>
      </p:sp>
      <p:sp>
        <p:nvSpPr>
          <p:cNvPr id="47" name="Shape 45"/>
          <p:cNvSpPr/>
          <p:nvPr/>
        </p:nvSpPr>
        <p:spPr>
          <a:xfrm>
            <a:off x="3145536" y="4206240"/>
            <a:ext cx="3063240" cy="640080"/>
          </a:xfrm>
          <a:prstGeom prst="rect">
            <a:avLst/>
          </a:prstGeom>
          <a:solidFill>
            <a:srgbClr val="2E7D4F"/>
          </a:solidFill>
          <a:ln w="12700">
            <a:solidFill>
              <a:srgbClr val="2E7D4F"/>
            </a:solidFill>
            <a:prstDash val="solid"/>
          </a:ln>
        </p:spPr>
      </p:sp>
      <p:sp>
        <p:nvSpPr>
          <p:cNvPr id="48" name="Text 46"/>
          <p:cNvSpPr txBox="1"/>
          <p:nvPr/>
        </p:nvSpPr>
        <p:spPr>
          <a:xfrm>
            <a:off x="3255264" y="4206240"/>
            <a:ext cx="2843784" cy="640080"/>
          </a:xfrm>
          <a:prstGeom prst="rect">
            <a:avLst/>
          </a:prstGeom>
          <a:noFill/>
          <a:ln/>
        </p:spPr>
        <p:txBody>
          <a:bodyPr wrap="square" lIns="0" tIns="0" rIns="0" bIns="0" rtlCol="0" anchor="ctr"/>
          <a:lstStyle/>
          <a:p>
            <a:pPr indent="0" marL="0">
              <a:buNone/>
            </a:pPr>
            <a:r>
              <a:rPr lang="en-US" sz="1000" b="1" dirty="0">
                <a:solidFill>
                  <a:srgbClr val="FDE68A"/>
                </a:solidFill>
                <a:latin typeface="Arial" pitchFamily="34" charset="0"/>
                <a:ea typeface="Arial" pitchFamily="34" charset="-122"/>
                <a:cs typeface="Arial" pitchFamily="34" charset="-120"/>
              </a:rPr>
              <a:t>Akar masalah: </a:t>
            </a:r>
            <a:pPr indent="0" marL="0">
              <a:buNone/>
            </a:pPr>
            <a:r>
              <a:rPr lang="en-US" sz="1000" dirty="0">
                <a:solidFill>
                  <a:srgbClr val="FFFFFF"/>
                </a:solidFill>
                <a:latin typeface="Arial" pitchFamily="34" charset="0"/>
                <a:ea typeface="Arial" pitchFamily="34" charset="-122"/>
                <a:cs typeface="Arial" pitchFamily="34" charset="-120"/>
              </a:rPr>
              <a:t>belum ada rantai pasok jelantah rumah tangga yang terkumpul, terstandar &amp; berinsentif.</a:t>
            </a:r>
            <a:endParaRPr lang="en-US" sz="1000" dirty="0"/>
          </a:p>
        </p:txBody>
      </p:sp>
      <p:sp>
        <p:nvSpPr>
          <p:cNvPr id="49" name="Shape 47"/>
          <p:cNvSpPr/>
          <p:nvPr/>
        </p:nvSpPr>
        <p:spPr>
          <a:xfrm>
            <a:off x="6336792" y="1828800"/>
            <a:ext cx="2697480" cy="1440180"/>
          </a:xfrm>
          <a:prstGeom prst="rect">
            <a:avLst/>
          </a:prstGeom>
          <a:solidFill>
            <a:srgbClr val="E7F3EA"/>
          </a:solidFill>
          <a:ln w="12700">
            <a:solidFill>
              <a:srgbClr val="E7F3EA"/>
            </a:solidFill>
            <a:prstDash val="solid"/>
          </a:ln>
        </p:spPr>
      </p:sp>
      <p:sp>
        <p:nvSpPr>
          <p:cNvPr id="50" name="Shape 48"/>
          <p:cNvSpPr/>
          <p:nvPr/>
        </p:nvSpPr>
        <p:spPr>
          <a:xfrm>
            <a:off x="6446520" y="1938528"/>
            <a:ext cx="457200" cy="457200"/>
          </a:xfrm>
          <a:prstGeom prst="ellipse">
            <a:avLst/>
          </a:prstGeom>
          <a:solidFill>
            <a:srgbClr val="14532D"/>
          </a:solidFill>
          <a:ln w="12700">
            <a:solidFill>
              <a:srgbClr val="14532D"/>
            </a:solidFill>
            <a:prstDash val="solid"/>
          </a:ln>
        </p:spPr>
      </p:sp>
      <p:pic>
        <p:nvPicPr>
          <p:cNvPr id="51" name="Image 0" descr="preencoded.png">    </p:cNvPr>
          <p:cNvPicPr>
            <a:picLocks noChangeAspect="1"/>
          </p:cNvPicPr>
          <p:nvPr/>
        </p:nvPicPr>
        <p:blipFill>
          <a:blip r:embed="rId1"/>
          <a:stretch>
            <a:fillRect/>
          </a:stretch>
        </p:blipFill>
        <p:spPr>
          <a:xfrm>
            <a:off x="6556248" y="2048256"/>
            <a:ext cx="237744" cy="237744"/>
          </a:xfrm>
          <a:prstGeom prst="rect">
            <a:avLst/>
          </a:prstGeom>
        </p:spPr>
      </p:pic>
      <p:sp>
        <p:nvSpPr>
          <p:cNvPr id="52" name="Text 49"/>
          <p:cNvSpPr txBox="1"/>
          <p:nvPr/>
        </p:nvSpPr>
        <p:spPr>
          <a:xfrm>
            <a:off x="6995160" y="1920240"/>
            <a:ext cx="1965960" cy="201168"/>
          </a:xfrm>
          <a:prstGeom prst="rect">
            <a:avLst/>
          </a:prstGeom>
          <a:noFill/>
          <a:ln/>
        </p:spPr>
        <p:txBody>
          <a:bodyPr wrap="square" lIns="0" tIns="0" rIns="0" bIns="0" rtlCol="0" anchor="ctr"/>
          <a:lstStyle/>
          <a:p>
            <a:pPr indent="0" marL="0">
              <a:buNone/>
            </a:pPr>
            <a:r>
              <a:rPr lang="en-US" sz="850" b="1" spc="100" kern="0" dirty="0">
                <a:solidFill>
                  <a:srgbClr val="E8A317"/>
                </a:solidFill>
                <a:latin typeface="Arial" pitchFamily="34" charset="0"/>
                <a:ea typeface="Arial" pitchFamily="34" charset="-122"/>
                <a:cs typeface="Arial" pitchFamily="34" charset="-120"/>
              </a:rPr>
              <a:t>PEMASOK</a:t>
            </a:r>
            <a:endParaRPr lang="en-US" sz="850" dirty="0"/>
          </a:p>
        </p:txBody>
      </p:sp>
      <p:sp>
        <p:nvSpPr>
          <p:cNvPr id="53" name="Text 50"/>
          <p:cNvSpPr txBox="1"/>
          <p:nvPr/>
        </p:nvSpPr>
        <p:spPr>
          <a:xfrm>
            <a:off x="6995160" y="2112264"/>
            <a:ext cx="1965960" cy="329184"/>
          </a:xfrm>
          <a:prstGeom prst="rect">
            <a:avLst/>
          </a:prstGeom>
          <a:noFill/>
          <a:ln/>
        </p:spPr>
        <p:txBody>
          <a:bodyPr wrap="square" lIns="0" tIns="0" rIns="0" bIns="0" rtlCol="0" anchor="t"/>
          <a:lstStyle/>
          <a:p>
            <a:pPr indent="0" marL="0">
              <a:buNone/>
            </a:pPr>
            <a:r>
              <a:rPr lang="en-US" sz="1000" b="1" dirty="0">
                <a:solidFill>
                  <a:srgbClr val="14532D"/>
                </a:solidFill>
                <a:latin typeface="Arial" pitchFamily="34" charset="0"/>
                <a:ea typeface="Arial" pitchFamily="34" charset="-122"/>
                <a:cs typeface="Arial" pitchFamily="34" charset="-120"/>
              </a:rPr>
              <a:t>Ibu Rina, 38 · IRT, Bekasi</a:t>
            </a:r>
            <a:endParaRPr lang="en-US" sz="1000" dirty="0"/>
          </a:p>
        </p:txBody>
      </p:sp>
      <p:sp>
        <p:nvSpPr>
          <p:cNvPr id="54" name="Text 51"/>
          <p:cNvSpPr txBox="1"/>
          <p:nvPr/>
        </p:nvSpPr>
        <p:spPr>
          <a:xfrm>
            <a:off x="6446520" y="2487168"/>
            <a:ext cx="2478024" cy="708660"/>
          </a:xfrm>
          <a:prstGeom prst="rect">
            <a:avLst/>
          </a:prstGeom>
          <a:noFill/>
          <a:ln/>
        </p:spPr>
        <p:txBody>
          <a:bodyPr wrap="square" lIns="0" tIns="0" rIns="0" bIns="0" rtlCol="0" anchor="t"/>
          <a:lstStyle/>
          <a:p>
            <a:pPr indent="0" marL="0">
              <a:spcAft>
                <a:spcPts val="300"/>
              </a:spcAft>
              <a:buNone/>
            </a:pPr>
            <a:r>
              <a:rPr lang="en-US" sz="950" b="1" dirty="0">
                <a:solidFill>
                  <a:srgbClr val="1F2937"/>
                </a:solidFill>
                <a:latin typeface="Arial" pitchFamily="34" charset="0"/>
                <a:ea typeface="Arial" pitchFamily="34" charset="-122"/>
                <a:cs typeface="Arial" pitchFamily="34" charset="-120"/>
              </a:rPr>
              <a:t>Pain: </a:t>
            </a:r>
            <a:pPr indent="0" marL="0">
              <a:spcAft>
                <a:spcPts val="300"/>
              </a:spcAft>
              <a:buNone/>
            </a:pPr>
            <a:r>
              <a:rPr lang="en-US" sz="950" dirty="0">
                <a:solidFill>
                  <a:srgbClr val="1F2937"/>
                </a:solidFill>
                <a:latin typeface="Arial" pitchFamily="34" charset="0"/>
                <a:ea typeface="Arial" pitchFamily="34" charset="-122"/>
                <a:cs typeface="Arial" pitchFamily="34" charset="-120"/>
              </a:rPr>
              <a:t>Buang ±1,5 L jelantah/bulan ke wastafel; saluran mampet, bingung harus ke mana.</a:t>
            </a:r>
            <a:endParaRPr lang="en-US" sz="950" dirty="0"/>
          </a:p>
          <a:p>
            <a:pPr indent="0" marL="0">
              <a:spcAft>
                <a:spcPts val="300"/>
              </a:spcAft>
              <a:buNone/>
            </a:pPr>
            <a:r>
              <a:rPr lang="en-US" sz="950" b="1" dirty="0">
                <a:solidFill>
                  <a:srgbClr val="1F2937"/>
                </a:solidFill>
                <a:latin typeface="Arial" pitchFamily="34" charset="0"/>
                <a:ea typeface="Arial" pitchFamily="34" charset="-122"/>
                <a:cs typeface="Arial" pitchFamily="34" charset="-120"/>
              </a:rPr>
              <a:t>Gain: </a:t>
            </a:r>
            <a:pPr indent="0" marL="0">
              <a:spcAft>
                <a:spcPts val="300"/>
              </a:spcAft>
              <a:buNone/>
            </a:pPr>
            <a:r>
              <a:rPr lang="en-US" sz="950" dirty="0">
                <a:solidFill>
                  <a:srgbClr val="1F2937"/>
                </a:solidFill>
                <a:latin typeface="Arial" pitchFamily="34" charset="0"/>
                <a:ea typeface="Arial" pitchFamily="34" charset="-122"/>
                <a:cs typeface="Arial" pitchFamily="34" charset="-120"/>
              </a:rPr>
              <a:t>Setor praktis &amp; dapat uang/poin.</a:t>
            </a:r>
            <a:endParaRPr lang="en-US" sz="950" dirty="0"/>
          </a:p>
        </p:txBody>
      </p:sp>
      <p:sp>
        <p:nvSpPr>
          <p:cNvPr id="55" name="Shape 52"/>
          <p:cNvSpPr/>
          <p:nvPr/>
        </p:nvSpPr>
        <p:spPr>
          <a:xfrm>
            <a:off x="6336792" y="3406140"/>
            <a:ext cx="2697480" cy="1440180"/>
          </a:xfrm>
          <a:prstGeom prst="rect">
            <a:avLst/>
          </a:prstGeom>
          <a:solidFill>
            <a:srgbClr val="E7F3EA"/>
          </a:solidFill>
          <a:ln w="12700">
            <a:solidFill>
              <a:srgbClr val="E7F3EA"/>
            </a:solidFill>
            <a:prstDash val="solid"/>
          </a:ln>
        </p:spPr>
      </p:sp>
      <p:sp>
        <p:nvSpPr>
          <p:cNvPr id="56" name="Shape 53"/>
          <p:cNvSpPr/>
          <p:nvPr/>
        </p:nvSpPr>
        <p:spPr>
          <a:xfrm>
            <a:off x="6446520" y="3515868"/>
            <a:ext cx="457200" cy="457200"/>
          </a:xfrm>
          <a:prstGeom prst="ellipse">
            <a:avLst/>
          </a:prstGeom>
          <a:solidFill>
            <a:srgbClr val="14532D"/>
          </a:solidFill>
          <a:ln w="12700">
            <a:solidFill>
              <a:srgbClr val="14532D"/>
            </a:solidFill>
            <a:prstDash val="solid"/>
          </a:ln>
        </p:spPr>
      </p:sp>
      <p:pic>
        <p:nvPicPr>
          <p:cNvPr id="57" name="Image 1" descr="preencoded.png">    </p:cNvPr>
          <p:cNvPicPr>
            <a:picLocks noChangeAspect="1"/>
          </p:cNvPicPr>
          <p:nvPr/>
        </p:nvPicPr>
        <p:blipFill>
          <a:blip r:embed="rId2"/>
          <a:stretch>
            <a:fillRect/>
          </a:stretch>
        </p:blipFill>
        <p:spPr>
          <a:xfrm>
            <a:off x="6556248" y="3625596"/>
            <a:ext cx="237744" cy="237744"/>
          </a:xfrm>
          <a:prstGeom prst="rect">
            <a:avLst/>
          </a:prstGeom>
        </p:spPr>
      </p:pic>
      <p:sp>
        <p:nvSpPr>
          <p:cNvPr id="58" name="Text 54"/>
          <p:cNvSpPr txBox="1"/>
          <p:nvPr/>
        </p:nvSpPr>
        <p:spPr>
          <a:xfrm>
            <a:off x="6995160" y="3497580"/>
            <a:ext cx="1965960" cy="201168"/>
          </a:xfrm>
          <a:prstGeom prst="rect">
            <a:avLst/>
          </a:prstGeom>
          <a:noFill/>
          <a:ln/>
        </p:spPr>
        <p:txBody>
          <a:bodyPr wrap="square" lIns="0" tIns="0" rIns="0" bIns="0" rtlCol="0" anchor="ctr"/>
          <a:lstStyle/>
          <a:p>
            <a:pPr indent="0" marL="0">
              <a:buNone/>
            </a:pPr>
            <a:r>
              <a:rPr lang="en-US" sz="850" b="1" spc="100" kern="0" dirty="0">
                <a:solidFill>
                  <a:srgbClr val="E8A317"/>
                </a:solidFill>
                <a:latin typeface="Arial" pitchFamily="34" charset="0"/>
                <a:ea typeface="Arial" pitchFamily="34" charset="-122"/>
                <a:cs typeface="Arial" pitchFamily="34" charset="-120"/>
              </a:rPr>
              <a:t>PEMBELI BIOSOLAR</a:t>
            </a:r>
            <a:endParaRPr lang="en-US" sz="850" dirty="0"/>
          </a:p>
        </p:txBody>
      </p:sp>
      <p:sp>
        <p:nvSpPr>
          <p:cNvPr id="59" name="Text 55"/>
          <p:cNvSpPr txBox="1"/>
          <p:nvPr/>
        </p:nvSpPr>
        <p:spPr>
          <a:xfrm>
            <a:off x="6995160" y="3689604"/>
            <a:ext cx="1965960" cy="329184"/>
          </a:xfrm>
          <a:prstGeom prst="rect">
            <a:avLst/>
          </a:prstGeom>
          <a:noFill/>
          <a:ln/>
        </p:spPr>
        <p:txBody>
          <a:bodyPr wrap="square" lIns="0" tIns="0" rIns="0" bIns="0" rtlCol="0" anchor="t"/>
          <a:lstStyle/>
          <a:p>
            <a:pPr indent="0" marL="0">
              <a:buNone/>
            </a:pPr>
            <a:r>
              <a:rPr lang="en-US" sz="1000" b="1" dirty="0">
                <a:solidFill>
                  <a:srgbClr val="14532D"/>
                </a:solidFill>
                <a:latin typeface="Arial" pitchFamily="34" charset="0"/>
                <a:ea typeface="Arial" pitchFamily="34" charset="-122"/>
                <a:cs typeface="Arial" pitchFamily="34" charset="-120"/>
              </a:rPr>
              <a:t>Pak Darto, 45 · UMKM penggilingan padi</a:t>
            </a:r>
            <a:endParaRPr lang="en-US" sz="1000" dirty="0"/>
          </a:p>
        </p:txBody>
      </p:sp>
      <p:sp>
        <p:nvSpPr>
          <p:cNvPr id="60" name="Text 56"/>
          <p:cNvSpPr txBox="1"/>
          <p:nvPr/>
        </p:nvSpPr>
        <p:spPr>
          <a:xfrm>
            <a:off x="6446520" y="4064508"/>
            <a:ext cx="2478024" cy="708660"/>
          </a:xfrm>
          <a:prstGeom prst="rect">
            <a:avLst/>
          </a:prstGeom>
          <a:noFill/>
          <a:ln/>
        </p:spPr>
        <p:txBody>
          <a:bodyPr wrap="square" lIns="0" tIns="0" rIns="0" bIns="0" rtlCol="0" anchor="t"/>
          <a:lstStyle/>
          <a:p>
            <a:pPr indent="0" marL="0">
              <a:spcAft>
                <a:spcPts val="300"/>
              </a:spcAft>
              <a:buNone/>
            </a:pPr>
            <a:r>
              <a:rPr lang="en-US" sz="950" b="1" dirty="0">
                <a:solidFill>
                  <a:srgbClr val="1F2937"/>
                </a:solidFill>
                <a:latin typeface="Arial" pitchFamily="34" charset="0"/>
                <a:ea typeface="Arial" pitchFamily="34" charset="-122"/>
                <a:cs typeface="Arial" pitchFamily="34" charset="-120"/>
              </a:rPr>
              <a:t>Pain: </a:t>
            </a:r>
            <a:pPr indent="0" marL="0">
              <a:spcAft>
                <a:spcPts val="300"/>
              </a:spcAft>
              <a:buNone/>
            </a:pPr>
            <a:r>
              <a:rPr lang="en-US" sz="950" dirty="0">
                <a:solidFill>
                  <a:srgbClr val="1F2937"/>
                </a:solidFill>
                <a:latin typeface="Arial" pitchFamily="34" charset="0"/>
                <a:ea typeface="Arial" pitchFamily="34" charset="-122"/>
                <a:cs typeface="Arial" pitchFamily="34" charset="-120"/>
              </a:rPr>
              <a:t>Ratusan liter solar/bulan; solar nonsubsidi mahal, kuota subsidi terbatas.</a:t>
            </a:r>
            <a:endParaRPr lang="en-US" sz="950" dirty="0"/>
          </a:p>
          <a:p>
            <a:pPr indent="0" marL="0">
              <a:spcAft>
                <a:spcPts val="300"/>
              </a:spcAft>
              <a:buNone/>
            </a:pPr>
            <a:r>
              <a:rPr lang="en-US" sz="950" b="1" dirty="0">
                <a:solidFill>
                  <a:srgbClr val="1F2937"/>
                </a:solidFill>
                <a:latin typeface="Arial" pitchFamily="34" charset="0"/>
                <a:ea typeface="Arial" pitchFamily="34" charset="-122"/>
                <a:cs typeface="Arial" pitchFamily="34" charset="-120"/>
              </a:rPr>
              <a:t>Gain: </a:t>
            </a:r>
            <a:pPr indent="0" marL="0">
              <a:spcAft>
                <a:spcPts val="300"/>
              </a:spcAft>
              <a:buNone/>
            </a:pPr>
            <a:r>
              <a:rPr lang="en-US" sz="950" dirty="0">
                <a:solidFill>
                  <a:srgbClr val="1F2937"/>
                </a:solidFill>
                <a:latin typeface="Arial" pitchFamily="34" charset="0"/>
                <a:ea typeface="Arial" pitchFamily="34" charset="-122"/>
                <a:cs typeface="Arial" pitchFamily="34" charset="-120"/>
              </a:rPr>
              <a:t>BBM lebih murah &amp; pasokan stabil.</a:t>
            </a:r>
            <a:endParaRPr lang="en-US" sz="950" dirty="0"/>
          </a:p>
        </p:txBody>
      </p:sp>
      <p:sp>
        <p:nvSpPr>
          <p:cNvPr id="61" name="Shape 57"/>
          <p:cNvSpPr/>
          <p:nvPr/>
        </p:nvSpPr>
        <p:spPr>
          <a:xfrm>
            <a:off x="9162288" y="1828800"/>
            <a:ext cx="2660904" cy="685800"/>
          </a:xfrm>
          <a:prstGeom prst="rect">
            <a:avLst/>
          </a:prstGeom>
          <a:solidFill>
            <a:srgbClr val="D3EADB"/>
          </a:solidFill>
          <a:ln w="12700">
            <a:solidFill>
              <a:srgbClr val="E7F3EA"/>
            </a:solidFill>
            <a:prstDash val="solid"/>
          </a:ln>
        </p:spPr>
      </p:sp>
      <p:sp>
        <p:nvSpPr>
          <p:cNvPr id="62" name="Text 58"/>
          <p:cNvSpPr txBox="1"/>
          <p:nvPr/>
        </p:nvSpPr>
        <p:spPr>
          <a:xfrm>
            <a:off x="9253728" y="1828800"/>
            <a:ext cx="960120" cy="685800"/>
          </a:xfrm>
          <a:prstGeom prst="rect">
            <a:avLst/>
          </a:prstGeom>
          <a:noFill/>
          <a:ln/>
        </p:spPr>
        <p:txBody>
          <a:bodyPr wrap="square" lIns="0" tIns="0" rIns="0" bIns="0" rtlCol="0" anchor="ctr">
            <a:normAutofit/>
          </a:bodyPr>
          <a:lstStyle/>
          <a:p>
            <a:pPr indent="0" marL="0">
              <a:buNone/>
            </a:pPr>
            <a:r>
              <a:rPr lang="en-US" sz="1500" b="1" dirty="0">
                <a:solidFill>
                  <a:srgbClr val="14532D"/>
                </a:solidFill>
                <a:latin typeface="Arial" pitchFamily="34" charset="0"/>
                <a:ea typeface="Arial" pitchFamily="34" charset="-122"/>
                <a:cs typeface="Arial" pitchFamily="34" charset="-120"/>
              </a:rPr>
              <a:t>±3 jt kL</a:t>
            </a:r>
            <a:endParaRPr lang="en-US" sz="1500" dirty="0"/>
          </a:p>
        </p:txBody>
      </p:sp>
      <p:sp>
        <p:nvSpPr>
          <p:cNvPr id="63" name="Text 59"/>
          <p:cNvSpPr txBox="1"/>
          <p:nvPr/>
        </p:nvSpPr>
        <p:spPr>
          <a:xfrm>
            <a:off x="10259568" y="1856232"/>
            <a:ext cx="1490472" cy="630936"/>
          </a:xfrm>
          <a:prstGeom prst="rect">
            <a:avLst/>
          </a:prstGeom>
          <a:noFill/>
          <a:ln/>
        </p:spPr>
        <p:txBody>
          <a:bodyPr wrap="square" lIns="0" tIns="0" rIns="0" bIns="0" rtlCol="0" anchor="ctr"/>
          <a:lstStyle/>
          <a:p>
            <a:pPr indent="0" marL="0">
              <a:buNone/>
            </a:pPr>
            <a:r>
              <a:rPr lang="en-US" sz="850" dirty="0">
                <a:solidFill>
                  <a:srgbClr val="1F2937"/>
                </a:solidFill>
                <a:latin typeface="Arial" pitchFamily="34" charset="0"/>
                <a:ea typeface="Arial" pitchFamily="34" charset="-122"/>
                <a:cs typeface="Arial" pitchFamily="34" charset="-120"/>
              </a:rPr>
              <a:t>potensi jelantah nasional per tahun; baru sebagian kecil terkumpul</a:t>
            </a:r>
            <a:endParaRPr lang="en-US" sz="850" dirty="0"/>
          </a:p>
          <a:p>
            <a:pPr indent="0" marL="0">
              <a:buNone/>
            </a:pPr>
            <a:r>
              <a:rPr lang="en-US" sz="750" i="1" dirty="0">
                <a:solidFill>
                  <a:srgbClr val="5B6B63"/>
                </a:solidFill>
                <a:latin typeface="Arial" pitchFamily="34" charset="0"/>
                <a:ea typeface="Arial" pitchFamily="34" charset="-122"/>
                <a:cs typeface="Arial" pitchFamily="34" charset="-120"/>
              </a:rPr>
              <a:t>Traction Energy Asia</a:t>
            </a:r>
            <a:endParaRPr lang="en-US" sz="850" dirty="0"/>
          </a:p>
        </p:txBody>
      </p:sp>
      <p:sp>
        <p:nvSpPr>
          <p:cNvPr id="64" name="Shape 60"/>
          <p:cNvSpPr/>
          <p:nvPr/>
        </p:nvSpPr>
        <p:spPr>
          <a:xfrm>
            <a:off x="9162288" y="2606040"/>
            <a:ext cx="2660904" cy="685800"/>
          </a:xfrm>
          <a:prstGeom prst="rect">
            <a:avLst/>
          </a:prstGeom>
          <a:solidFill>
            <a:srgbClr val="E7F3EA"/>
          </a:solidFill>
          <a:ln w="12700">
            <a:solidFill>
              <a:srgbClr val="E7F3EA"/>
            </a:solidFill>
            <a:prstDash val="solid"/>
          </a:ln>
        </p:spPr>
      </p:sp>
      <p:sp>
        <p:nvSpPr>
          <p:cNvPr id="65" name="Text 61"/>
          <p:cNvSpPr txBox="1"/>
          <p:nvPr/>
        </p:nvSpPr>
        <p:spPr>
          <a:xfrm>
            <a:off x="9253728" y="2606040"/>
            <a:ext cx="960120" cy="685800"/>
          </a:xfrm>
          <a:prstGeom prst="rect">
            <a:avLst/>
          </a:prstGeom>
          <a:noFill/>
          <a:ln/>
        </p:spPr>
        <p:txBody>
          <a:bodyPr wrap="square" lIns="0" tIns="0" rIns="0" bIns="0" rtlCol="0" anchor="ctr">
            <a:normAutofit/>
          </a:bodyPr>
          <a:lstStyle/>
          <a:p>
            <a:pPr indent="0" marL="0">
              <a:buNone/>
            </a:pPr>
            <a:r>
              <a:rPr lang="en-US" sz="1500" b="1" dirty="0">
                <a:solidFill>
                  <a:srgbClr val="14532D"/>
                </a:solidFill>
                <a:latin typeface="Arial" pitchFamily="34" charset="0"/>
                <a:ea typeface="Arial" pitchFamily="34" charset="-122"/>
                <a:cs typeface="Arial" pitchFamily="34" charset="-120"/>
              </a:rPr>
              <a:t>B40</a:t>
            </a:r>
            <a:endParaRPr lang="en-US" sz="1500" dirty="0"/>
          </a:p>
        </p:txBody>
      </p:sp>
      <p:sp>
        <p:nvSpPr>
          <p:cNvPr id="66" name="Text 62"/>
          <p:cNvSpPr txBox="1"/>
          <p:nvPr/>
        </p:nvSpPr>
        <p:spPr>
          <a:xfrm>
            <a:off x="10259568" y="2633472"/>
            <a:ext cx="1490472" cy="630936"/>
          </a:xfrm>
          <a:prstGeom prst="rect">
            <a:avLst/>
          </a:prstGeom>
          <a:noFill/>
          <a:ln/>
        </p:spPr>
        <p:txBody>
          <a:bodyPr wrap="square" lIns="0" tIns="0" rIns="0" bIns="0" rtlCol="0" anchor="ctr"/>
          <a:lstStyle/>
          <a:p>
            <a:pPr indent="0" marL="0">
              <a:buNone/>
            </a:pPr>
            <a:r>
              <a:rPr lang="en-US" sz="850" dirty="0">
                <a:solidFill>
                  <a:srgbClr val="1F2937"/>
                </a:solidFill>
                <a:latin typeface="Arial" pitchFamily="34" charset="0"/>
                <a:ea typeface="Arial" pitchFamily="34" charset="-122"/>
                <a:cs typeface="Arial" pitchFamily="34" charset="-120"/>
              </a:rPr>
              <a:t>mandatori biodiesel sejak 2025; kebutuhan FAME belasan juta kL/tahun</a:t>
            </a:r>
            <a:endParaRPr lang="en-US" sz="850" dirty="0"/>
          </a:p>
          <a:p>
            <a:pPr indent="0" marL="0">
              <a:buNone/>
            </a:pPr>
            <a:r>
              <a:rPr lang="en-US" sz="750" i="1" dirty="0">
                <a:solidFill>
                  <a:srgbClr val="5B6B63"/>
                </a:solidFill>
                <a:latin typeface="Arial" pitchFamily="34" charset="0"/>
                <a:ea typeface="Arial" pitchFamily="34" charset="-122"/>
                <a:cs typeface="Arial" pitchFamily="34" charset="-120"/>
              </a:rPr>
              <a:t>Kementerian ESDM</a:t>
            </a:r>
            <a:endParaRPr lang="en-US" sz="850" dirty="0"/>
          </a:p>
        </p:txBody>
      </p:sp>
      <p:sp>
        <p:nvSpPr>
          <p:cNvPr id="67" name="Shape 63"/>
          <p:cNvSpPr/>
          <p:nvPr/>
        </p:nvSpPr>
        <p:spPr>
          <a:xfrm>
            <a:off x="9162288" y="3383280"/>
            <a:ext cx="2660904" cy="685800"/>
          </a:xfrm>
          <a:prstGeom prst="rect">
            <a:avLst/>
          </a:prstGeom>
          <a:solidFill>
            <a:srgbClr val="D3EADB"/>
          </a:solidFill>
          <a:ln w="12700">
            <a:solidFill>
              <a:srgbClr val="E7F3EA"/>
            </a:solidFill>
            <a:prstDash val="solid"/>
          </a:ln>
        </p:spPr>
      </p:sp>
      <p:sp>
        <p:nvSpPr>
          <p:cNvPr id="68" name="Text 64"/>
          <p:cNvSpPr txBox="1"/>
          <p:nvPr/>
        </p:nvSpPr>
        <p:spPr>
          <a:xfrm>
            <a:off x="9253728" y="3383280"/>
            <a:ext cx="960120" cy="685800"/>
          </a:xfrm>
          <a:prstGeom prst="rect">
            <a:avLst/>
          </a:prstGeom>
          <a:noFill/>
          <a:ln/>
        </p:spPr>
        <p:txBody>
          <a:bodyPr wrap="square" lIns="0" tIns="0" rIns="0" bIns="0" rtlCol="0" anchor="ctr">
            <a:normAutofit/>
          </a:bodyPr>
          <a:lstStyle/>
          <a:p>
            <a:pPr indent="0" marL="0">
              <a:buNone/>
            </a:pPr>
            <a:r>
              <a:rPr lang="en-US" sz="1500" b="1" dirty="0">
                <a:solidFill>
                  <a:srgbClr val="14532D"/>
                </a:solidFill>
                <a:latin typeface="Arial" pitchFamily="34" charset="0"/>
                <a:ea typeface="Arial" pitchFamily="34" charset="-122"/>
                <a:cs typeface="Arial" pitchFamily="34" charset="-120"/>
              </a:rPr>
              <a:t>80–90%</a:t>
            </a:r>
            <a:endParaRPr lang="en-US" sz="1500" dirty="0"/>
          </a:p>
        </p:txBody>
      </p:sp>
      <p:sp>
        <p:nvSpPr>
          <p:cNvPr id="69" name="Text 65"/>
          <p:cNvSpPr txBox="1"/>
          <p:nvPr/>
        </p:nvSpPr>
        <p:spPr>
          <a:xfrm>
            <a:off x="10259568" y="3410712"/>
            <a:ext cx="1490472" cy="630936"/>
          </a:xfrm>
          <a:prstGeom prst="rect">
            <a:avLst/>
          </a:prstGeom>
          <a:noFill/>
          <a:ln/>
        </p:spPr>
        <p:txBody>
          <a:bodyPr wrap="square" lIns="0" tIns="0" rIns="0" bIns="0" rtlCol="0" anchor="ctr"/>
          <a:lstStyle/>
          <a:p>
            <a:pPr indent="0" marL="0">
              <a:buNone/>
            </a:pPr>
            <a:r>
              <a:rPr lang="en-US" sz="850" dirty="0">
                <a:solidFill>
                  <a:srgbClr val="1F2937"/>
                </a:solidFill>
                <a:latin typeface="Arial" pitchFamily="34" charset="0"/>
                <a:ea typeface="Arial" pitchFamily="34" charset="-122"/>
                <a:cs typeface="Arial" pitchFamily="34" charset="-120"/>
              </a:rPr>
              <a:t>rendemen jelantah menjadi biodiesel lewat transesterifikasi</a:t>
            </a:r>
            <a:endParaRPr lang="en-US" sz="850" dirty="0"/>
          </a:p>
          <a:p>
            <a:pPr indent="0" marL="0">
              <a:buNone/>
            </a:pPr>
            <a:r>
              <a:rPr lang="en-US" sz="750" i="1" dirty="0">
                <a:solidFill>
                  <a:srgbClr val="5B6B63"/>
                </a:solidFill>
                <a:latin typeface="Arial" pitchFamily="34" charset="0"/>
                <a:ea typeface="Arial" pitchFamily="34" charset="-122"/>
                <a:cs typeface="Arial" pitchFamily="34" charset="-120"/>
              </a:rPr>
              <a:t>riset kampus &amp; pilot daerah</a:t>
            </a:r>
            <a:endParaRPr lang="en-US" sz="850" dirty="0"/>
          </a:p>
        </p:txBody>
      </p:sp>
      <p:sp>
        <p:nvSpPr>
          <p:cNvPr id="70" name="Shape 66"/>
          <p:cNvSpPr/>
          <p:nvPr/>
        </p:nvSpPr>
        <p:spPr>
          <a:xfrm>
            <a:off x="9162288" y="4160520"/>
            <a:ext cx="2660904" cy="685800"/>
          </a:xfrm>
          <a:prstGeom prst="rect">
            <a:avLst/>
          </a:prstGeom>
          <a:solidFill>
            <a:srgbClr val="E7F3EA"/>
          </a:solidFill>
          <a:ln w="12700">
            <a:solidFill>
              <a:srgbClr val="E7F3EA"/>
            </a:solidFill>
            <a:prstDash val="solid"/>
          </a:ln>
        </p:spPr>
      </p:sp>
      <p:sp>
        <p:nvSpPr>
          <p:cNvPr id="71" name="Text 67"/>
          <p:cNvSpPr txBox="1"/>
          <p:nvPr/>
        </p:nvSpPr>
        <p:spPr>
          <a:xfrm>
            <a:off x="9253728" y="4160520"/>
            <a:ext cx="960120" cy="685800"/>
          </a:xfrm>
          <a:prstGeom prst="rect">
            <a:avLst/>
          </a:prstGeom>
          <a:noFill/>
          <a:ln/>
        </p:spPr>
        <p:txBody>
          <a:bodyPr wrap="square" lIns="0" tIns="0" rIns="0" bIns="0" rtlCol="0" anchor="ctr">
            <a:normAutofit/>
          </a:bodyPr>
          <a:lstStyle/>
          <a:p>
            <a:pPr indent="0" marL="0">
              <a:buNone/>
            </a:pPr>
            <a:r>
              <a:rPr lang="en-US" sz="1500" b="1" dirty="0">
                <a:solidFill>
                  <a:srgbClr val="14532D"/>
                </a:solidFill>
                <a:latin typeface="Arial" pitchFamily="34" charset="0"/>
                <a:ea typeface="Arial" pitchFamily="34" charset="-122"/>
                <a:cs typeface="Arial" pitchFamily="34" charset="-120"/>
              </a:rPr>
              <a:t>1 : 1.000</a:t>
            </a:r>
            <a:endParaRPr lang="en-US" sz="1500" dirty="0"/>
          </a:p>
        </p:txBody>
      </p:sp>
      <p:sp>
        <p:nvSpPr>
          <p:cNvPr id="72" name="Text 68"/>
          <p:cNvSpPr txBox="1"/>
          <p:nvPr/>
        </p:nvSpPr>
        <p:spPr>
          <a:xfrm>
            <a:off x="10259568" y="4187952"/>
            <a:ext cx="1490472" cy="630936"/>
          </a:xfrm>
          <a:prstGeom prst="rect">
            <a:avLst/>
          </a:prstGeom>
          <a:noFill/>
          <a:ln/>
        </p:spPr>
        <p:txBody>
          <a:bodyPr wrap="square" lIns="0" tIns="0" rIns="0" bIns="0" rtlCol="0" anchor="ctr"/>
          <a:lstStyle/>
          <a:p>
            <a:pPr indent="0" marL="0">
              <a:buNone/>
            </a:pPr>
            <a:r>
              <a:rPr lang="en-US" sz="850" dirty="0">
                <a:solidFill>
                  <a:srgbClr val="1F2937"/>
                </a:solidFill>
                <a:latin typeface="Arial" pitchFamily="34" charset="0"/>
                <a:ea typeface="Arial" pitchFamily="34" charset="-122"/>
                <a:cs typeface="Arial" pitchFamily="34" charset="-120"/>
              </a:rPr>
              <a:t>1 L jelantah dapat mencemari hingga ±1.000 L air</a:t>
            </a:r>
            <a:endParaRPr lang="en-US" sz="850" dirty="0"/>
          </a:p>
          <a:p>
            <a:pPr indent="0" marL="0">
              <a:buNone/>
            </a:pPr>
            <a:r>
              <a:rPr lang="en-US" sz="750" i="1" dirty="0">
                <a:solidFill>
                  <a:srgbClr val="5B6B63"/>
                </a:solidFill>
                <a:latin typeface="Arial" pitchFamily="34" charset="0"/>
                <a:ea typeface="Arial" pitchFamily="34" charset="-122"/>
                <a:cs typeface="Arial" pitchFamily="34" charset="-120"/>
              </a:rPr>
              <a:t>DLH / organisasi lingkungan</a:t>
            </a:r>
            <a:endParaRPr lang="en-US" sz="850" dirty="0"/>
          </a:p>
        </p:txBody>
      </p:sp>
      <p:sp>
        <p:nvSpPr>
          <p:cNvPr id="73" name="Shape 69"/>
          <p:cNvSpPr/>
          <p:nvPr/>
        </p:nvSpPr>
        <p:spPr>
          <a:xfrm>
            <a:off x="365760" y="5010912"/>
            <a:ext cx="11457432" cy="1371600"/>
          </a:xfrm>
          <a:prstGeom prst="rect">
            <a:avLst/>
          </a:prstGeom>
          <a:solidFill>
            <a:srgbClr val="FFFFFF"/>
          </a:solidFill>
          <a:ln w="15875">
            <a:solidFill>
              <a:srgbClr val="14532D"/>
            </a:solidFill>
            <a:prstDash val="solid"/>
          </a:ln>
        </p:spPr>
      </p:sp>
      <p:sp>
        <p:nvSpPr>
          <p:cNvPr id="74" name="Shape 70"/>
          <p:cNvSpPr/>
          <p:nvPr/>
        </p:nvSpPr>
        <p:spPr>
          <a:xfrm>
            <a:off x="365760" y="5010912"/>
            <a:ext cx="11457432" cy="347472"/>
          </a:xfrm>
          <a:prstGeom prst="rect">
            <a:avLst/>
          </a:prstGeom>
          <a:solidFill>
            <a:srgbClr val="14532D"/>
          </a:solidFill>
          <a:ln w="12700">
            <a:solidFill>
              <a:srgbClr val="14532D"/>
            </a:solidFill>
            <a:prstDash val="solid"/>
          </a:ln>
        </p:spPr>
      </p:sp>
      <p:sp>
        <p:nvSpPr>
          <p:cNvPr id="75" name="Shape 71"/>
          <p:cNvSpPr/>
          <p:nvPr/>
        </p:nvSpPr>
        <p:spPr>
          <a:xfrm>
            <a:off x="4846320" y="5047488"/>
            <a:ext cx="274320" cy="274320"/>
          </a:xfrm>
          <a:prstGeom prst="ellipse">
            <a:avLst/>
          </a:prstGeom>
          <a:solidFill>
            <a:srgbClr val="E8A317"/>
          </a:solidFill>
          <a:ln w="12700">
            <a:solidFill>
              <a:srgbClr val="E8A317"/>
            </a:solidFill>
            <a:prstDash val="solid"/>
          </a:ln>
        </p:spPr>
      </p:sp>
      <p:sp>
        <p:nvSpPr>
          <p:cNvPr id="76" name="Text 72"/>
          <p:cNvSpPr txBox="1"/>
          <p:nvPr/>
        </p:nvSpPr>
        <p:spPr>
          <a:xfrm>
            <a:off x="4846320" y="50474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77" name="Text 73"/>
          <p:cNvSpPr txBox="1"/>
          <p:nvPr/>
        </p:nvSpPr>
        <p:spPr>
          <a:xfrm>
            <a:off x="5193792" y="5010912"/>
            <a:ext cx="2743200" cy="34747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Opportunity</a:t>
            </a:r>
            <a:endParaRPr lang="en-US" sz="1500" dirty="0"/>
          </a:p>
        </p:txBody>
      </p:sp>
      <p:sp>
        <p:nvSpPr>
          <p:cNvPr id="78" name="Text 74"/>
          <p:cNvSpPr txBox="1"/>
          <p:nvPr/>
        </p:nvSpPr>
        <p:spPr>
          <a:xfrm>
            <a:off x="548640" y="5413248"/>
            <a:ext cx="11091672" cy="457200"/>
          </a:xfrm>
          <a:prstGeom prst="rect">
            <a:avLst/>
          </a:prstGeom>
          <a:noFill/>
          <a:ln/>
        </p:spPr>
        <p:txBody>
          <a:bodyPr wrap="square" lIns="0" tIns="0" rIns="0" bIns="0" rtlCol="0" anchor="ctr"/>
          <a:lstStyle/>
          <a:p>
            <a:pPr algn="ctr" indent="0" marL="0">
              <a:buNone/>
            </a:pPr>
            <a:r>
              <a:rPr lang="en-US" sz="1150" b="1" i="1" dirty="0">
                <a:solidFill>
                  <a:srgbClr val="14532D"/>
                </a:solidFill>
                <a:latin typeface="Arial" pitchFamily="34" charset="0"/>
                <a:ea typeface="Arial" pitchFamily="34" charset="-122"/>
                <a:cs typeface="Arial" pitchFamily="34" charset="-120"/>
              </a:rPr>
              <a:t>"JelantahKu membangun rantai pasok jelantah rumah tangga lewat drop-off tingkat RT dan pick-up terjadwal berbayar, lalu mengolahnya menjadi biosolar (biodiesel) yang dijual ke UMKM, nelayan, dan armada diesel sebagai bahan bakar yang lebih murah dan ramah lingkungan."</a:t>
            </a:r>
            <a:endParaRPr lang="en-US" sz="1150" dirty="0"/>
          </a:p>
        </p:txBody>
      </p:sp>
      <p:sp>
        <p:nvSpPr>
          <p:cNvPr id="79" name="Shape 75"/>
          <p:cNvSpPr/>
          <p:nvPr/>
        </p:nvSpPr>
        <p:spPr>
          <a:xfrm>
            <a:off x="585216" y="5925312"/>
            <a:ext cx="2514600" cy="347472"/>
          </a:xfrm>
          <a:prstGeom prst="rect">
            <a:avLst/>
          </a:prstGeom>
          <a:solidFill>
            <a:srgbClr val="FCEFC7"/>
          </a:solidFill>
          <a:ln w="12700">
            <a:solidFill>
              <a:srgbClr val="FCEFC7"/>
            </a:solidFill>
            <a:prstDash val="solid"/>
          </a:ln>
        </p:spPr>
      </p:sp>
      <p:sp>
        <p:nvSpPr>
          <p:cNvPr id="80" name="Text 76"/>
          <p:cNvSpPr txBox="1"/>
          <p:nvPr/>
        </p:nvSpPr>
        <p:spPr>
          <a:xfrm>
            <a:off x="630936" y="5925312"/>
            <a:ext cx="2423160" cy="347472"/>
          </a:xfrm>
          <a:prstGeom prst="rect">
            <a:avLst/>
          </a:prstGeom>
          <a:noFill/>
          <a:ln/>
        </p:spPr>
        <p:txBody>
          <a:bodyPr wrap="square" lIns="0" tIns="0" rIns="0" bIns="0" rtlCol="0" anchor="ctr"/>
          <a:lstStyle/>
          <a:p>
            <a:pPr algn="ctr" indent="0" marL="0">
              <a:buNone/>
            </a:pPr>
            <a:r>
              <a:rPr lang="en-US" sz="950" b="1" dirty="0">
                <a:solidFill>
                  <a:srgbClr val="1F2937"/>
                </a:solidFill>
                <a:latin typeface="Arial" pitchFamily="34" charset="0"/>
                <a:ea typeface="Arial" pitchFamily="34" charset="-122"/>
                <a:cs typeface="Arial" pitchFamily="34" charset="-120"/>
              </a:rPr>
              <a:t>Rumah tangga setor jelantah (±Rp3–5rb/L)</a:t>
            </a:r>
            <a:endParaRPr lang="en-US" sz="950" dirty="0"/>
          </a:p>
        </p:txBody>
      </p:sp>
      <p:sp>
        <p:nvSpPr>
          <p:cNvPr id="81" name="Shape 77"/>
          <p:cNvSpPr/>
          <p:nvPr/>
        </p:nvSpPr>
        <p:spPr>
          <a:xfrm>
            <a:off x="3145536" y="6099048"/>
            <a:ext cx="228600" cy="0"/>
          </a:xfrm>
          <a:prstGeom prst="line">
            <a:avLst/>
          </a:prstGeom>
          <a:noFill/>
          <a:ln w="19050">
            <a:solidFill>
              <a:srgbClr val="14532D"/>
            </a:solidFill>
            <a:prstDash val="solid"/>
            <a:tailEnd type="triangle"/>
          </a:ln>
        </p:spPr>
      </p:sp>
      <p:sp>
        <p:nvSpPr>
          <p:cNvPr id="82" name="Shape 78"/>
          <p:cNvSpPr/>
          <p:nvPr/>
        </p:nvSpPr>
        <p:spPr>
          <a:xfrm>
            <a:off x="3419856" y="5925312"/>
            <a:ext cx="2514600" cy="347472"/>
          </a:xfrm>
          <a:prstGeom prst="rect">
            <a:avLst/>
          </a:prstGeom>
          <a:solidFill>
            <a:srgbClr val="FCEFC7"/>
          </a:solidFill>
          <a:ln w="12700">
            <a:solidFill>
              <a:srgbClr val="FCEFC7"/>
            </a:solidFill>
            <a:prstDash val="solid"/>
          </a:ln>
        </p:spPr>
      </p:sp>
      <p:sp>
        <p:nvSpPr>
          <p:cNvPr id="83" name="Text 79"/>
          <p:cNvSpPr txBox="1"/>
          <p:nvPr/>
        </p:nvSpPr>
        <p:spPr>
          <a:xfrm>
            <a:off x="3465576" y="5925312"/>
            <a:ext cx="2423160" cy="347472"/>
          </a:xfrm>
          <a:prstGeom prst="rect">
            <a:avLst/>
          </a:prstGeom>
          <a:noFill/>
          <a:ln/>
        </p:spPr>
        <p:txBody>
          <a:bodyPr wrap="square" lIns="0" tIns="0" rIns="0" bIns="0" rtlCol="0" anchor="ctr"/>
          <a:lstStyle/>
          <a:p>
            <a:pPr algn="ctr" indent="0" marL="0">
              <a:buNone/>
            </a:pPr>
            <a:r>
              <a:rPr lang="en-US" sz="950" b="1" dirty="0">
                <a:solidFill>
                  <a:srgbClr val="1F2937"/>
                </a:solidFill>
                <a:latin typeface="Arial" pitchFamily="34" charset="0"/>
                <a:ea typeface="Arial" pitchFamily="34" charset="-122"/>
                <a:cs typeface="Arial" pitchFamily="34" charset="-120"/>
              </a:rPr>
              <a:t>Drop-off RT / pick-up terjadwal</a:t>
            </a:r>
            <a:endParaRPr lang="en-US" sz="950" dirty="0"/>
          </a:p>
        </p:txBody>
      </p:sp>
      <p:sp>
        <p:nvSpPr>
          <p:cNvPr id="84" name="Shape 80"/>
          <p:cNvSpPr/>
          <p:nvPr/>
        </p:nvSpPr>
        <p:spPr>
          <a:xfrm>
            <a:off x="5980176" y="6099048"/>
            <a:ext cx="228600" cy="0"/>
          </a:xfrm>
          <a:prstGeom prst="line">
            <a:avLst/>
          </a:prstGeom>
          <a:noFill/>
          <a:ln w="19050">
            <a:solidFill>
              <a:srgbClr val="14532D"/>
            </a:solidFill>
            <a:prstDash val="solid"/>
            <a:tailEnd type="triangle"/>
          </a:ln>
        </p:spPr>
      </p:sp>
      <p:sp>
        <p:nvSpPr>
          <p:cNvPr id="85" name="Shape 81"/>
          <p:cNvSpPr/>
          <p:nvPr/>
        </p:nvSpPr>
        <p:spPr>
          <a:xfrm>
            <a:off x="6254496" y="5925312"/>
            <a:ext cx="2514600" cy="347472"/>
          </a:xfrm>
          <a:prstGeom prst="rect">
            <a:avLst/>
          </a:prstGeom>
          <a:solidFill>
            <a:srgbClr val="FCEFC7"/>
          </a:solidFill>
          <a:ln w="12700">
            <a:solidFill>
              <a:srgbClr val="FCEFC7"/>
            </a:solidFill>
            <a:prstDash val="solid"/>
          </a:ln>
        </p:spPr>
      </p:sp>
      <p:sp>
        <p:nvSpPr>
          <p:cNvPr id="86" name="Text 82"/>
          <p:cNvSpPr txBox="1"/>
          <p:nvPr/>
        </p:nvSpPr>
        <p:spPr>
          <a:xfrm>
            <a:off x="6300216" y="5925312"/>
            <a:ext cx="2423160" cy="347472"/>
          </a:xfrm>
          <a:prstGeom prst="rect">
            <a:avLst/>
          </a:prstGeom>
          <a:noFill/>
          <a:ln/>
        </p:spPr>
        <p:txBody>
          <a:bodyPr wrap="square" lIns="0" tIns="0" rIns="0" bIns="0" rtlCol="0" anchor="ctr"/>
          <a:lstStyle/>
          <a:p>
            <a:pPr algn="ctr" indent="0" marL="0">
              <a:buNone/>
            </a:pPr>
            <a:r>
              <a:rPr lang="en-US" sz="950" b="1" dirty="0">
                <a:solidFill>
                  <a:srgbClr val="1F2937"/>
                </a:solidFill>
                <a:latin typeface="Arial" pitchFamily="34" charset="0"/>
                <a:ea typeface="Arial" pitchFamily="34" charset="-122"/>
                <a:cs typeface="Arial" pitchFamily="34" charset="-120"/>
              </a:rPr>
              <a:t>Olah jadi biosolar (SNI 7182)</a:t>
            </a:r>
            <a:endParaRPr lang="en-US" sz="950" dirty="0"/>
          </a:p>
        </p:txBody>
      </p:sp>
      <p:sp>
        <p:nvSpPr>
          <p:cNvPr id="87" name="Shape 83"/>
          <p:cNvSpPr/>
          <p:nvPr/>
        </p:nvSpPr>
        <p:spPr>
          <a:xfrm>
            <a:off x="8814816" y="6099048"/>
            <a:ext cx="228600" cy="0"/>
          </a:xfrm>
          <a:prstGeom prst="line">
            <a:avLst/>
          </a:prstGeom>
          <a:noFill/>
          <a:ln w="19050">
            <a:solidFill>
              <a:srgbClr val="14532D"/>
            </a:solidFill>
            <a:prstDash val="solid"/>
            <a:tailEnd type="triangle"/>
          </a:ln>
        </p:spPr>
      </p:sp>
      <p:sp>
        <p:nvSpPr>
          <p:cNvPr id="88" name="Shape 84"/>
          <p:cNvSpPr/>
          <p:nvPr/>
        </p:nvSpPr>
        <p:spPr>
          <a:xfrm>
            <a:off x="9089136" y="5925312"/>
            <a:ext cx="2514600" cy="347472"/>
          </a:xfrm>
          <a:prstGeom prst="rect">
            <a:avLst/>
          </a:prstGeom>
          <a:solidFill>
            <a:srgbClr val="FCEFC7"/>
          </a:solidFill>
          <a:ln w="12700">
            <a:solidFill>
              <a:srgbClr val="FCEFC7"/>
            </a:solidFill>
            <a:prstDash val="solid"/>
          </a:ln>
        </p:spPr>
      </p:sp>
      <p:sp>
        <p:nvSpPr>
          <p:cNvPr id="89" name="Text 85"/>
          <p:cNvSpPr txBox="1"/>
          <p:nvPr/>
        </p:nvSpPr>
        <p:spPr>
          <a:xfrm>
            <a:off x="9134856" y="5925312"/>
            <a:ext cx="2423160" cy="347472"/>
          </a:xfrm>
          <a:prstGeom prst="rect">
            <a:avLst/>
          </a:prstGeom>
          <a:noFill/>
          <a:ln/>
        </p:spPr>
        <p:txBody>
          <a:bodyPr wrap="square" lIns="0" tIns="0" rIns="0" bIns="0" rtlCol="0" anchor="ctr"/>
          <a:lstStyle/>
          <a:p>
            <a:pPr algn="ctr" indent="0" marL="0">
              <a:buNone/>
            </a:pPr>
            <a:r>
              <a:rPr lang="en-US" sz="950" b="1" dirty="0">
                <a:solidFill>
                  <a:srgbClr val="1F2937"/>
                </a:solidFill>
                <a:latin typeface="Arial" pitchFamily="34" charset="0"/>
                <a:ea typeface="Arial" pitchFamily="34" charset="-122"/>
                <a:cs typeface="Arial" pitchFamily="34" charset="-120"/>
              </a:rPr>
              <a:t>Jual B2B: UMKM, nelayan, armada</a:t>
            </a:r>
            <a:endParaRPr lang="en-US" sz="950" dirty="0"/>
          </a:p>
        </p:txBody>
      </p:sp>
      <p:sp>
        <p:nvSpPr>
          <p:cNvPr id="90" name="Text 86"/>
          <p:cNvSpPr txBox="1"/>
          <p:nvPr/>
        </p:nvSpPr>
        <p:spPr>
          <a:xfrm>
            <a:off x="365760" y="6473952"/>
            <a:ext cx="11457432" cy="228600"/>
          </a:xfrm>
          <a:prstGeom prst="rect">
            <a:avLst/>
          </a:prstGeom>
          <a:noFill/>
          <a:ln/>
        </p:spPr>
        <p:txBody>
          <a:bodyPr wrap="square" lIns="0" tIns="0" rIns="0" bIns="0" rtlCol="0" anchor="ctr"/>
          <a:lstStyle/>
          <a:p>
            <a:pPr indent="0" marL="0">
              <a:buNone/>
            </a:pPr>
            <a:r>
              <a:rPr lang="en-US" sz="750" i="1" dirty="0">
                <a:solidFill>
                  <a:srgbClr val="5B6B63"/>
                </a:solidFill>
                <a:latin typeface="Arial" pitchFamily="34" charset="0"/>
                <a:ea typeface="Arial" pitchFamily="34" charset="-122"/>
                <a:cs typeface="Arial" pitchFamily="34" charset="-120"/>
              </a:rPr>
              <a:t>Sumber: Traction Energy Asia (potensi jelantah Indonesia); Kementerian ESDM (mandatori B40, HIP BBN); SNI 7182 Biodiesel. Angka perlu diverifikasi ke sumber asli.</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JelantahKu - SDG 12 Challenge</dc:title>
  <dc:subject>PptxGenJS Presentation</dc:subject>
  <dc:creator>PptxGenJS</dc:creator>
  <cp:lastModifiedBy>PptxGenJS</cp:lastModifiedBy>
  <cp:revision>1</cp:revision>
  <dcterms:created xsi:type="dcterms:W3CDTF">2026-09-23T07:45:52Z</dcterms:created>
  <dcterms:modified xsi:type="dcterms:W3CDTF">2026-09-23T07:45:52Z</dcterms:modified>
</cp:coreProperties>
</file>